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1"/>
  </p:sldMasterIdLst>
  <p:notesMasterIdLst>
    <p:notesMasterId r:id="rId36"/>
  </p:notesMasterIdLst>
  <p:sldIdLst>
    <p:sldId id="256" r:id="rId2"/>
    <p:sldId id="313" r:id="rId3"/>
    <p:sldId id="302" r:id="rId4"/>
    <p:sldId id="308" r:id="rId5"/>
    <p:sldId id="300" r:id="rId6"/>
    <p:sldId id="297" r:id="rId7"/>
    <p:sldId id="295" r:id="rId8"/>
    <p:sldId id="296" r:id="rId9"/>
    <p:sldId id="294" r:id="rId10"/>
    <p:sldId id="257" r:id="rId11"/>
    <p:sldId id="293" r:id="rId12"/>
    <p:sldId id="292" r:id="rId13"/>
    <p:sldId id="291" r:id="rId14"/>
    <p:sldId id="288" r:id="rId15"/>
    <p:sldId id="321" r:id="rId16"/>
    <p:sldId id="314" r:id="rId17"/>
    <p:sldId id="320" r:id="rId18"/>
    <p:sldId id="322" r:id="rId19"/>
    <p:sldId id="323" r:id="rId20"/>
    <p:sldId id="319" r:id="rId21"/>
    <p:sldId id="324" r:id="rId22"/>
    <p:sldId id="316" r:id="rId23"/>
    <p:sldId id="318" r:id="rId24"/>
    <p:sldId id="315" r:id="rId25"/>
    <p:sldId id="317" r:id="rId26"/>
    <p:sldId id="280" r:id="rId27"/>
    <p:sldId id="326" r:id="rId28"/>
    <p:sldId id="325" r:id="rId29"/>
    <p:sldId id="327" r:id="rId30"/>
    <p:sldId id="328" r:id="rId31"/>
    <p:sldId id="329" r:id="rId32"/>
    <p:sldId id="278" r:id="rId33"/>
    <p:sldId id="277" r:id="rId34"/>
    <p:sldId id="266" r:id="rId3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9" autoAdjust="0"/>
    <p:restoredTop sz="93579" autoAdjust="0"/>
  </p:normalViewPr>
  <p:slideViewPr>
    <p:cSldViewPr>
      <p:cViewPr>
        <p:scale>
          <a:sx n="92" d="100"/>
          <a:sy n="92" d="100"/>
        </p:scale>
        <p:origin x="-93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026"/>
    </p:cViewPr>
  </p:sorterViewPr>
  <p:notesViewPr>
    <p:cSldViewPr>
      <p:cViewPr varScale="1">
        <p:scale>
          <a:sx n="57" d="100"/>
          <a:sy n="57" d="100"/>
        </p:scale>
        <p:origin x="-108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10752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07524"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752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752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10752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BA375ADD-0281-4FCF-9518-533B7AD8D8FE}" type="slidenum">
              <a:rPr lang="en-US" altLang="zh-CN"/>
              <a:pPr/>
              <a:t>‹#›</a:t>
            </a:fld>
            <a:endParaRPr lang="en-US" altLang="zh-CN"/>
          </a:p>
        </p:txBody>
      </p:sp>
    </p:spTree>
    <p:extLst>
      <p:ext uri="{BB962C8B-B14F-4D97-AF65-F5344CB8AC3E}">
        <p14:creationId xmlns:p14="http://schemas.microsoft.com/office/powerpoint/2010/main" val="4222116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宋体" pitchFamily="2" charset="-122"/>
        <a:cs typeface="+mn-cs"/>
      </a:defRPr>
    </a:lvl1pPr>
    <a:lvl2pPr marL="457200" algn="l" rtl="0" fontAlgn="base">
      <a:spcBef>
        <a:spcPct val="30000"/>
      </a:spcBef>
      <a:spcAft>
        <a:spcPct val="0"/>
      </a:spcAft>
      <a:defRPr sz="1200" kern="1200">
        <a:solidFill>
          <a:schemeClr val="tx1"/>
        </a:solidFill>
        <a:latin typeface="Arial" charset="0"/>
        <a:ea typeface="宋体" pitchFamily="2" charset="-122"/>
        <a:cs typeface="+mn-cs"/>
      </a:defRPr>
    </a:lvl2pPr>
    <a:lvl3pPr marL="914400" algn="l" rtl="0" fontAlgn="base">
      <a:spcBef>
        <a:spcPct val="30000"/>
      </a:spcBef>
      <a:spcAft>
        <a:spcPct val="0"/>
      </a:spcAft>
      <a:defRPr sz="1200" kern="1200">
        <a:solidFill>
          <a:schemeClr val="tx1"/>
        </a:solidFill>
        <a:latin typeface="Arial" charset="0"/>
        <a:ea typeface="宋体" pitchFamily="2" charset="-122"/>
        <a:cs typeface="+mn-cs"/>
      </a:defRPr>
    </a:lvl3pPr>
    <a:lvl4pPr marL="1371600" algn="l" rtl="0" fontAlgn="base">
      <a:spcBef>
        <a:spcPct val="30000"/>
      </a:spcBef>
      <a:spcAft>
        <a:spcPct val="0"/>
      </a:spcAft>
      <a:defRPr sz="1200" kern="1200">
        <a:solidFill>
          <a:schemeClr val="tx1"/>
        </a:solidFill>
        <a:latin typeface="Arial" charset="0"/>
        <a:ea typeface="宋体" pitchFamily="2" charset="-122"/>
        <a:cs typeface="+mn-cs"/>
      </a:defRPr>
    </a:lvl4pPr>
    <a:lvl5pPr marL="1828800" algn="l" rtl="0" fontAlgn="base">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baike.baidu.com/view/84811.htm"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baike.baidu.com/view/301836.htm"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DFA2AA-A68D-40DA-9764-6EB7CF622658}" type="slidenum">
              <a:rPr lang="en-US" altLang="zh-CN"/>
              <a:pPr/>
              <a:t>2</a:t>
            </a:fld>
            <a:endParaRPr lang="en-US" altLang="zh-CN"/>
          </a:p>
        </p:txBody>
      </p:sp>
      <p:sp>
        <p:nvSpPr>
          <p:cNvPr id="113666" name="Rectangle 2"/>
          <p:cNvSpPr>
            <a:spLocks noRot="1" noChangeArrowheads="1" noTextEdit="1"/>
          </p:cNvSpPr>
          <p:nvPr>
            <p:ph type="sldImg"/>
          </p:nvPr>
        </p:nvSpPr>
        <p:spPr>
          <a:ln/>
        </p:spPr>
      </p:sp>
      <p:sp>
        <p:nvSpPr>
          <p:cNvPr id="113667" name="Rectangle 3"/>
          <p:cNvSpPr>
            <a:spLocks noGrp="1" noChangeArrowheads="1"/>
          </p:cNvSpPr>
          <p:nvPr>
            <p:ph type="body" idx="1"/>
          </p:nvPr>
        </p:nvSpPr>
        <p:spPr/>
        <p:txBody>
          <a:bodyPr/>
          <a:lstStyle/>
          <a:p>
            <a:pPr>
              <a:lnSpc>
                <a:spcPct val="80000"/>
              </a:lnSpc>
            </a:pPr>
            <a:r>
              <a:rPr lang="zh-CN" altLang="en-US" sz="1000"/>
              <a:t>根据舞蹈的不同风格特点来区分，有：古典舞蹈、民间舞蹈、现代舞蹈、当代舞蹈和芭蕾舞。</a:t>
            </a:r>
            <a:br>
              <a:rPr lang="zh-CN" altLang="en-US" sz="1000"/>
            </a:br>
            <a:endParaRPr lang="zh-CN" altLang="en-US" sz="1000"/>
          </a:p>
          <a:p>
            <a:pPr>
              <a:lnSpc>
                <a:spcPct val="80000"/>
              </a:lnSpc>
            </a:pPr>
            <a:r>
              <a:rPr lang="zh-CN" altLang="en-US" sz="1000"/>
              <a:t>　　古典舞蹈：是在民族民间舞蹈基础上，经过历代专业工作者提炼、整理、加工创造，并经过较长期艺术实践的检验，流传下来的，被认为是具有一定典范意义和古典风格特点的舞蹈。世界上许多国家和民族都有各具独特风格的古典舞蹈。欧洲的古典舞蹈，一般都泛指芭蕾舞。 </a:t>
            </a:r>
            <a:br>
              <a:rPr lang="zh-CN" altLang="en-US" sz="1000"/>
            </a:br>
            <a:endParaRPr lang="zh-CN" altLang="en-US" sz="1000"/>
          </a:p>
          <a:p>
            <a:pPr>
              <a:lnSpc>
                <a:spcPct val="80000"/>
              </a:lnSpc>
            </a:pPr>
            <a:r>
              <a:rPr lang="zh-CN" altLang="en-US" sz="1000"/>
              <a:t>　　民间舞蹈：是由广大人民群众在长期历史进程中集体创造，不断积累、发展而形成的，并在群众中广泛流传的一种舞蹈形式。它直接反映人民群众的思想感情、理想和愿望。由于各国家、各民族、各地区人民的生活劳动方式、历史文化心态、风俗习惯，以及自然环境的差异，因而形成了不同的民族风格和地方特色。</a:t>
            </a:r>
            <a:br>
              <a:rPr lang="zh-CN" altLang="en-US" sz="1000"/>
            </a:br>
            <a:endParaRPr lang="zh-CN" altLang="en-US" sz="1000"/>
          </a:p>
          <a:p>
            <a:pPr>
              <a:lnSpc>
                <a:spcPct val="80000"/>
              </a:lnSpc>
            </a:pPr>
            <a:r>
              <a:rPr lang="zh-CN" altLang="en-US" sz="1000"/>
              <a:t>　　现代舞蹈：是</a:t>
            </a:r>
            <a:r>
              <a:rPr lang="en-US" altLang="zh-CN" sz="1000"/>
              <a:t>19</a:t>
            </a:r>
            <a:r>
              <a:rPr lang="zh-CN" altLang="en-US" sz="1000"/>
              <a:t>世纪末和</a:t>
            </a:r>
            <a:r>
              <a:rPr lang="en-US" altLang="zh-CN" sz="1000"/>
              <a:t>20</a:t>
            </a:r>
            <a:r>
              <a:rPr lang="zh-CN" altLang="en-US" sz="1000"/>
              <a:t>世纪初在欧美兴起的一种舞蹈流派。其主要美学观点是反对当时古典芭蕾的因循守旧、脱离现实生活和单纯追求技巧的形式主义倾向；主张摆脱古典芭蕾过于僵化的动作程式的束缚，以合乎自然运动法则的舞蹈动作，自由地抒发人的真实情感，强调舞蹈艺术要反映现代社会生活。 </a:t>
            </a:r>
            <a:br>
              <a:rPr lang="zh-CN" altLang="en-US" sz="1000"/>
            </a:br>
            <a:endParaRPr lang="zh-CN" altLang="en-US" sz="1000"/>
          </a:p>
          <a:p>
            <a:pPr>
              <a:lnSpc>
                <a:spcPct val="80000"/>
              </a:lnSpc>
            </a:pPr>
            <a:r>
              <a:rPr lang="zh-CN" altLang="en-US" sz="1000"/>
              <a:t>　　当代舞蹈</a:t>
            </a:r>
            <a:r>
              <a:rPr lang="en-US" altLang="zh-CN" sz="1000"/>
              <a:t>(</a:t>
            </a:r>
            <a:r>
              <a:rPr lang="zh-CN" altLang="en-US" sz="1000"/>
              <a:t>新创作舞蹈</a:t>
            </a:r>
            <a:r>
              <a:rPr lang="en-US" altLang="zh-CN" sz="1000"/>
              <a:t>)</a:t>
            </a:r>
            <a:r>
              <a:rPr lang="zh-CN" altLang="en-US" sz="1000"/>
              <a:t>：即不同于上述三种风格的新风格的舞蹈，它常常是根据表现内容和塑造人物的需要，不拘一格，借鉴和吸收各舞蹈流派的各种风格、各种舞蹈表现手段和表现方法，兼收并蓄为我所用，从而创作出不同于已经形成的各种舞蹈风格的具有独特新风格的舞蹈。</a:t>
            </a:r>
            <a:br>
              <a:rPr lang="zh-CN" altLang="en-US" sz="1000"/>
            </a:br>
            <a:endParaRPr lang="zh-CN" altLang="en-US" sz="1000"/>
          </a:p>
          <a:p>
            <a:pPr>
              <a:lnSpc>
                <a:spcPct val="80000"/>
              </a:lnSpc>
            </a:pPr>
            <a:r>
              <a:rPr lang="zh-CN" altLang="en-US" sz="1000"/>
              <a:t>　　芭蕾舞：是一种经过宫廷的职业舞蹈家提炼加工、高度程式化的剧场舞蹈。</a:t>
            </a:r>
            <a:r>
              <a:rPr lang="en-US" altLang="zh-CN" sz="1000"/>
              <a:t>"</a:t>
            </a:r>
            <a:r>
              <a:rPr lang="zh-CN" altLang="en-US" sz="1000"/>
              <a:t>芭蕾</a:t>
            </a:r>
            <a:r>
              <a:rPr lang="en-US" altLang="zh-CN" sz="1000"/>
              <a:t>"</a:t>
            </a:r>
            <a:r>
              <a:rPr lang="zh-CN" altLang="en-US" sz="1000"/>
              <a:t>这个词本是法语</a:t>
            </a:r>
            <a:r>
              <a:rPr lang="en-US" altLang="zh-CN" sz="1000"/>
              <a:t>"ballet"</a:t>
            </a:r>
            <a:r>
              <a:rPr lang="zh-CN" altLang="en-US" sz="1000"/>
              <a:t>的音译，意为</a:t>
            </a:r>
            <a:r>
              <a:rPr lang="en-US" altLang="zh-CN" sz="1000"/>
              <a:t>"</a:t>
            </a:r>
            <a:r>
              <a:rPr lang="zh-CN" altLang="en-US" sz="1000"/>
              <a:t>跳</a:t>
            </a:r>
            <a:r>
              <a:rPr lang="en-US" altLang="zh-CN" sz="1000"/>
              <a:t>"</a:t>
            </a:r>
            <a:r>
              <a:rPr lang="zh-CN" altLang="en-US" sz="1000"/>
              <a:t>，或</a:t>
            </a:r>
            <a:r>
              <a:rPr lang="en-US" altLang="zh-CN" sz="1000"/>
              <a:t>"</a:t>
            </a:r>
            <a:r>
              <a:rPr lang="zh-CN" altLang="en-US" sz="1000"/>
              <a:t>跳舞</a:t>
            </a:r>
            <a:r>
              <a:rPr lang="en-US" altLang="zh-CN" sz="1000"/>
              <a:t>"</a:t>
            </a:r>
            <a:r>
              <a:rPr lang="zh-CN" altLang="en-US" sz="1000"/>
              <a:t>，其最初的意思只是以腿、脚为运动部位的动作总称。法国宫廷的舞蹈大师们为了重建古希秸融诗歌、音乐和舞蹈于一体的戏剧理想，创造出了</a:t>
            </a:r>
            <a:r>
              <a:rPr lang="en-US" altLang="zh-CN" sz="1000"/>
              <a:t>"</a:t>
            </a:r>
            <a:r>
              <a:rPr lang="zh-CN" altLang="en-US" sz="1000"/>
              <a:t>芭蕾</a:t>
            </a:r>
            <a:r>
              <a:rPr lang="en-US" altLang="zh-CN" sz="1000"/>
              <a:t>"</a:t>
            </a:r>
            <a:r>
              <a:rPr lang="zh-CN" altLang="en-US" sz="1000"/>
              <a:t>这样一种融舞蹈动作、哑剧手势、面部表情、戏剧服装、音乐伴奏、文学台本、舞台灯光和布景等多种成份于一体的综合性舞剧形式，在西方剧场舞蹈艺术中占统治地位达</a:t>
            </a:r>
            <a:r>
              <a:rPr lang="en-US" altLang="zh-CN" sz="1000"/>
              <a:t>300</a:t>
            </a:r>
            <a:r>
              <a:rPr lang="zh-CN" altLang="en-US" sz="1000"/>
              <a:t>余年，至今已历四个多世纪。</a:t>
            </a:r>
            <a:r>
              <a:rPr lang="en-US" altLang="zh-CN" sz="1000"/>
              <a:t>1958</a:t>
            </a:r>
            <a:r>
              <a:rPr lang="zh-CN" altLang="en-US" sz="1000"/>
              <a:t>年北京舞蹈学校建立引进俄罗斯芭蕾至今也已四十多年。</a:t>
            </a:r>
            <a:br>
              <a:rPr lang="zh-CN" altLang="en-US" sz="1000"/>
            </a:br>
            <a:endParaRPr lang="zh-CN" altLang="en-US" sz="10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519373-6D2E-4692-BC35-1169A6B97C2A}" type="slidenum">
              <a:rPr lang="en-US" altLang="zh-CN"/>
              <a:pPr/>
              <a:t>3</a:t>
            </a:fld>
            <a:endParaRPr lang="en-US" altLang="zh-CN"/>
          </a:p>
        </p:txBody>
      </p:sp>
      <p:sp>
        <p:nvSpPr>
          <p:cNvPr id="114690" name="Rectangle 2"/>
          <p:cNvSpPr>
            <a:spLocks noRot="1" noChangeArrowheads="1" noTextEdit="1"/>
          </p:cNvSpPr>
          <p:nvPr>
            <p:ph type="sldImg"/>
          </p:nvPr>
        </p:nvSpPr>
        <p:spPr>
          <a:ln/>
        </p:spPr>
      </p:sp>
      <p:sp>
        <p:nvSpPr>
          <p:cNvPr id="114691" name="Rectangle 3"/>
          <p:cNvSpPr>
            <a:spLocks noGrp="1" noChangeArrowheads="1"/>
          </p:cNvSpPr>
          <p:nvPr>
            <p:ph type="body" idx="1"/>
          </p:nvPr>
        </p:nvSpPr>
        <p:spPr/>
        <p:txBody>
          <a:bodyPr/>
          <a:lstStyle/>
          <a:p>
            <a:r>
              <a:rPr lang="zh-CN" altLang="en-US"/>
              <a:t>民族舞蹈范围很广，大凡依附于各民族传统风俗活动的舞蹈，如</a:t>
            </a:r>
            <a:r>
              <a:rPr lang="zh-CN" altLang="en-US" b="1"/>
              <a:t>生产劳动</a:t>
            </a:r>
            <a:r>
              <a:rPr lang="zh-CN" altLang="en-US"/>
              <a:t>、</a:t>
            </a:r>
            <a:r>
              <a:rPr lang="zh-CN" altLang="en-US" b="1"/>
              <a:t>岁时节令</a:t>
            </a:r>
            <a:r>
              <a:rPr lang="zh-CN" altLang="en-US"/>
              <a:t>、</a:t>
            </a:r>
            <a:r>
              <a:rPr lang="zh-CN" altLang="en-US" b="1"/>
              <a:t>婚丧礼仪</a:t>
            </a:r>
            <a:r>
              <a:rPr lang="zh-CN" altLang="en-US"/>
              <a:t>、</a:t>
            </a:r>
            <a:r>
              <a:rPr lang="zh-CN" altLang="en-US" b="1"/>
              <a:t>信仰崇拜</a:t>
            </a:r>
            <a:r>
              <a:rPr lang="zh-CN" altLang="en-US"/>
              <a:t>等等民族活动中的舞蹈都包含在内。</a:t>
            </a:r>
          </a:p>
          <a:p>
            <a:r>
              <a:rPr lang="zh-CN" altLang="en-US"/>
              <a:t>今天的民间舞蹈已大多用于节日文化娱乐，原有的意蕴已经淡化甚至消失，但追索这些舞蹈的根底，则大多离不开民族生活中曾经盛行过的民族活动。</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A6667E-CEC7-4E03-BFC0-65EED01906B6}" type="slidenum">
              <a:rPr lang="en-US" altLang="zh-CN"/>
              <a:pPr/>
              <a:t>14</a:t>
            </a:fld>
            <a:endParaRPr lang="en-US" altLang="zh-CN"/>
          </a:p>
        </p:txBody>
      </p:sp>
      <p:sp>
        <p:nvSpPr>
          <p:cNvPr id="115714" name="Rectangle 2"/>
          <p:cNvSpPr>
            <a:spLocks noRot="1" noChangeArrowheads="1" noTextEdit="1"/>
          </p:cNvSpPr>
          <p:nvPr>
            <p:ph type="sldImg"/>
          </p:nvPr>
        </p:nvSpPr>
        <p:spPr>
          <a:ln/>
        </p:spPr>
      </p:sp>
      <p:sp>
        <p:nvSpPr>
          <p:cNvPr id="115715" name="Rectangle 3"/>
          <p:cNvSpPr>
            <a:spLocks noGrp="1" noChangeArrowheads="1"/>
          </p:cNvSpPr>
          <p:nvPr>
            <p:ph type="body" idx="1"/>
          </p:nvPr>
        </p:nvSpPr>
        <p:spPr/>
        <p:txBody>
          <a:bodyPr/>
          <a:lstStyle/>
          <a:p>
            <a:r>
              <a:rPr lang="en-US" altLang="zh-CN"/>
              <a:t> </a:t>
            </a:r>
            <a:r>
              <a:rPr lang="zh-CN" altLang="en-US"/>
              <a:t>究竟什么样的舞蹈才是古典舞，大体上有两个构成的条件：一个是</a:t>
            </a:r>
            <a:r>
              <a:rPr lang="en-US" altLang="zh-CN"/>
              <a:t>"</a:t>
            </a:r>
            <a:r>
              <a:rPr lang="zh-CN" altLang="en-US"/>
              <a:t>古</a:t>
            </a:r>
            <a:r>
              <a:rPr lang="en-US" altLang="zh-CN"/>
              <a:t>"</a:t>
            </a:r>
            <a:r>
              <a:rPr lang="zh-CN" altLang="en-US"/>
              <a:t>，一个是</a:t>
            </a:r>
            <a:r>
              <a:rPr lang="en-US" altLang="zh-CN"/>
              <a:t>"</a:t>
            </a:r>
            <a:r>
              <a:rPr lang="zh-CN" altLang="en-US"/>
              <a:t>典</a:t>
            </a:r>
            <a:r>
              <a:rPr lang="en-US" altLang="zh-CN"/>
              <a:t>"</a:t>
            </a:r>
            <a:r>
              <a:rPr lang="zh-CN" altLang="en-US"/>
              <a:t>，就是古典一辞的内容和含义。</a:t>
            </a:r>
          </a:p>
          <a:p>
            <a:r>
              <a:rPr lang="zh-CN" altLang="en-US"/>
              <a:t>　　</a:t>
            </a:r>
            <a:r>
              <a:rPr lang="en-US" altLang="zh-CN"/>
              <a:t>"</a:t>
            </a:r>
            <a:r>
              <a:rPr lang="zh-CN" altLang="en-US"/>
              <a:t>古</a:t>
            </a:r>
            <a:r>
              <a:rPr lang="en-US" altLang="zh-CN"/>
              <a:t>"</a:t>
            </a:r>
            <a:r>
              <a:rPr lang="zh-CN" altLang="en-US"/>
              <a:t>，则必然是历史，也就是古代，古典舞只能是形成于古代的舞蹈。我们常说</a:t>
            </a:r>
            <a:r>
              <a:rPr lang="en-US" altLang="zh-CN"/>
              <a:t>"</a:t>
            </a:r>
            <a:r>
              <a:rPr lang="zh-CN" altLang="en-US"/>
              <a:t>传统</a:t>
            </a:r>
            <a:r>
              <a:rPr lang="en-US" altLang="zh-CN"/>
              <a:t>"</a:t>
            </a:r>
            <a:r>
              <a:rPr lang="zh-CN" altLang="en-US"/>
              <a:t>，传统是历史的积累，是经过一代一代古人长期的传承创造，才凝定为若干种艺术形式，并从那些艺术形式当中体现出艺术规范和美学传统。因此构成古典舞蹈的第一个条件就是</a:t>
            </a:r>
            <a:r>
              <a:rPr lang="en-US" altLang="zh-CN"/>
              <a:t>"</a:t>
            </a:r>
            <a:r>
              <a:rPr lang="zh-CN" altLang="en-US"/>
              <a:t>古</a:t>
            </a:r>
            <a:r>
              <a:rPr lang="en-US" altLang="zh-CN"/>
              <a:t>"</a:t>
            </a:r>
            <a:r>
              <a:rPr lang="zh-CN" altLang="en-US"/>
              <a:t>，任何国家都不存在不是形成于古代、不是产生于历史上的古典艺术。</a:t>
            </a:r>
          </a:p>
          <a:p>
            <a:r>
              <a:rPr lang="zh-CN" altLang="en-US"/>
              <a:t>　　只有</a:t>
            </a:r>
            <a:r>
              <a:rPr lang="en-US" altLang="zh-CN"/>
              <a:t>"</a:t>
            </a:r>
            <a:r>
              <a:rPr lang="zh-CN" altLang="en-US"/>
              <a:t>古</a:t>
            </a:r>
            <a:r>
              <a:rPr lang="en-US" altLang="zh-CN"/>
              <a:t>"</a:t>
            </a:r>
            <a:r>
              <a:rPr lang="zh-CN" altLang="en-US"/>
              <a:t>还不足以构成古典，还要看某种或者某些舞蹈在古代舞蹈文化中有没有典范性（也可以说典型性）和代表性。而典范性和代表性又有两层涵义：一方面是看它在反映古代社会意识形态方面有没有典型性和代表性；另一方面一是看它的艺术成就，艺术水平在历史上有没有典型性、代表性，是否影响着或者领导了当时舞蹈文化的动向和潮流</a:t>
            </a:r>
            <a:r>
              <a:rPr lang="en-US" altLang="zh-CN"/>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FB93B9-78E7-4C7B-A6DA-CC5C90F70D1D}" type="slidenum">
              <a:rPr lang="en-US" altLang="zh-CN"/>
              <a:pPr/>
              <a:t>17</a:t>
            </a:fld>
            <a:endParaRPr lang="en-US" altLang="zh-CN"/>
          </a:p>
        </p:txBody>
      </p:sp>
      <p:sp>
        <p:nvSpPr>
          <p:cNvPr id="166914" name="Rectangle 2"/>
          <p:cNvSpPr>
            <a:spLocks noRot="1" noChangeArrowheads="1" noTextEdit="1"/>
          </p:cNvSpPr>
          <p:nvPr>
            <p:ph type="sldImg"/>
          </p:nvPr>
        </p:nvSpPr>
        <p:spPr>
          <a:ln/>
        </p:spPr>
      </p:sp>
      <p:sp>
        <p:nvSpPr>
          <p:cNvPr id="166915" name="Rectangle 3"/>
          <p:cNvSpPr>
            <a:spLocks noGrp="1" noChangeArrowheads="1"/>
          </p:cNvSpPr>
          <p:nvPr>
            <p:ph type="body" idx="1"/>
          </p:nvPr>
        </p:nvSpPr>
        <p:spPr/>
        <p:txBody>
          <a:bodyPr/>
          <a:lstStyle/>
          <a:p>
            <a:r>
              <a:rPr lang="zh-CN" altLang="en-US"/>
              <a:t>越王宠爱的一宫女认为：“真正的美人必须具备三个条件，一是美貌，二是善歌舞，三是体态。”西施只具备了第一个条件，还缺乏其他两个条件。</a:t>
            </a:r>
          </a:p>
          <a:p>
            <a:r>
              <a:rPr lang="zh-CN" altLang="en-US"/>
              <a:t>于是，西施花了三年时间，发愤苦练，在悠扬的乐曲中，翩跹起舞，婀娜迷人，进而训练礼节，一位浣纱女成为修养有素的宫女，一举指，一投足，均显出体态美，待人接物，十分得体。然后，又给她制作华丽适体的宫装，方进献吴王。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70B24E-70DD-4BDC-B5CD-4407E848CBB4}" type="slidenum">
              <a:rPr lang="en-US" altLang="zh-CN"/>
              <a:pPr/>
              <a:t>18</a:t>
            </a:fld>
            <a:endParaRPr lang="en-US" altLang="zh-CN"/>
          </a:p>
        </p:txBody>
      </p:sp>
      <p:sp>
        <p:nvSpPr>
          <p:cNvPr id="142338" name="Rectangle 2"/>
          <p:cNvSpPr>
            <a:spLocks noRot="1" noChangeArrowheads="1" noTextEdit="1"/>
          </p:cNvSpPr>
          <p:nvPr>
            <p:ph type="sldImg"/>
          </p:nvPr>
        </p:nvSpPr>
        <p:spPr>
          <a:ln/>
        </p:spPr>
      </p:sp>
      <p:sp>
        <p:nvSpPr>
          <p:cNvPr id="142339" name="Rectangle 3"/>
          <p:cNvSpPr>
            <a:spLocks noGrp="1" noChangeArrowheads="1"/>
          </p:cNvSpPr>
          <p:nvPr>
            <p:ph type="body" idx="1"/>
          </p:nvPr>
        </p:nvSpPr>
        <p:spPr/>
        <p:txBody>
          <a:bodyPr/>
          <a:lstStyle/>
          <a:p>
            <a:r>
              <a:rPr lang="zh-CN" altLang="en-US"/>
              <a:t>戚夫人（？－公元前１９４年），祖籍定陶（今山东定陶）人，是汉高祖刘邦的宠妃，曾随刘邦征战四年，她也是西汉初年的歌舞名家，她擅跳“翘袖折腰”之舞，从出土的汉画石像看来，其舞姿优美，甩袖和折腰都有相当的技巧，且花样繁复。戚夫人舞时只见两只彩袖凌空飞旋，娇躯翩转，极具韵律美。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5A65C9-E1C4-429B-AABB-197EB999FC2D}" type="slidenum">
              <a:rPr lang="en-US" altLang="zh-CN"/>
              <a:pPr/>
              <a:t>19</a:t>
            </a:fld>
            <a:endParaRPr lang="en-US" altLang="zh-CN"/>
          </a:p>
        </p:txBody>
      </p:sp>
      <p:sp>
        <p:nvSpPr>
          <p:cNvPr id="167938" name="Rectangle 2"/>
          <p:cNvSpPr>
            <a:spLocks noRot="1" noChangeArrowheads="1" noTextEdit="1"/>
          </p:cNvSpPr>
          <p:nvPr>
            <p:ph type="sldImg"/>
          </p:nvPr>
        </p:nvSpPr>
        <p:spPr>
          <a:ln/>
        </p:spPr>
      </p:sp>
      <p:sp>
        <p:nvSpPr>
          <p:cNvPr id="167939" name="Rectangle 3"/>
          <p:cNvSpPr>
            <a:spLocks noGrp="1" noChangeArrowheads="1"/>
          </p:cNvSpPr>
          <p:nvPr>
            <p:ph type="body" idx="1"/>
          </p:nvPr>
        </p:nvSpPr>
        <p:spPr/>
        <p:txBody>
          <a:bodyPr/>
          <a:lstStyle/>
          <a:p>
            <a:r>
              <a:rPr lang="zh-CN" altLang="en-US"/>
              <a:t>唐代诗人徐凝作</a:t>
            </a:r>
            <a:r>
              <a:rPr lang="en-US" altLang="zh-CN"/>
              <a:t>《</a:t>
            </a:r>
            <a:r>
              <a:rPr lang="zh-CN" altLang="en-US"/>
              <a:t>汉宫曲</a:t>
            </a:r>
            <a:r>
              <a:rPr lang="en-US" altLang="zh-CN"/>
              <a:t>》</a:t>
            </a:r>
            <a:r>
              <a:rPr lang="zh-CN" altLang="en-US"/>
              <a:t>题写了：</a:t>
            </a:r>
            <a:br>
              <a:rPr lang="zh-CN" altLang="en-US"/>
            </a:br>
            <a:r>
              <a:rPr lang="zh-CN" altLang="en-US"/>
              <a:t>　　水色箫前流玉霜， </a:t>
            </a:r>
            <a:br>
              <a:rPr lang="zh-CN" altLang="en-US"/>
            </a:br>
            <a:r>
              <a:rPr lang="zh-CN" altLang="en-US"/>
              <a:t>　　赵家飞燕侍昭阳。 </a:t>
            </a:r>
            <a:br>
              <a:rPr lang="zh-CN" altLang="en-US"/>
            </a:br>
            <a:r>
              <a:rPr lang="zh-CN" altLang="en-US"/>
              <a:t>　　掌中舞罢箫声绝， </a:t>
            </a:r>
            <a:br>
              <a:rPr lang="zh-CN" altLang="en-US"/>
            </a:br>
            <a:r>
              <a:rPr lang="zh-CN" altLang="en-US"/>
              <a:t>　　三十六宫秋夜长。 </a:t>
            </a:r>
            <a:br>
              <a:rPr lang="zh-CN" altLang="en-US"/>
            </a:br>
            <a:r>
              <a:rPr lang="zh-CN" altLang="en-US"/>
              <a:t>　　故而使得她精美绝伦的舞蹈技艺，广为传诵和发扬。赵飞燕，被称之我国古代最杰出的舞蹈家是当之无愧的。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DB3689-FC08-454F-8EDA-545C0EF407FB}" type="slidenum">
              <a:rPr lang="en-US" altLang="zh-CN"/>
              <a:pPr/>
              <a:t>21</a:t>
            </a:fld>
            <a:endParaRPr lang="en-US" altLang="zh-CN"/>
          </a:p>
        </p:txBody>
      </p:sp>
      <p:sp>
        <p:nvSpPr>
          <p:cNvPr id="171010" name="Rectangle 2"/>
          <p:cNvSpPr>
            <a:spLocks noRot="1" noChangeArrowheads="1" noTextEdit="1"/>
          </p:cNvSpPr>
          <p:nvPr>
            <p:ph type="sldImg"/>
          </p:nvPr>
        </p:nvSpPr>
        <p:spPr>
          <a:ln/>
        </p:spPr>
      </p:sp>
      <p:sp>
        <p:nvSpPr>
          <p:cNvPr id="171011" name="Rectangle 3"/>
          <p:cNvSpPr>
            <a:spLocks noGrp="1" noChangeArrowheads="1"/>
          </p:cNvSpPr>
          <p:nvPr>
            <p:ph type="body" idx="1"/>
          </p:nvPr>
        </p:nvSpPr>
        <p:spPr/>
        <p:txBody>
          <a:bodyPr/>
          <a:lstStyle/>
          <a:p>
            <a:r>
              <a:rPr lang="zh-CN" altLang="en-US"/>
              <a:t>　　反弹琵琶是敦煌艺术中最优美的舞姿。它劲健而舒展，迅疾而和谐，反弹琵琶实际上是又奏乐又跳舞，把高超的弹奏技艺绝妙的舞蹈本领优雅迷人地集中在这个舞位的肩上。我们很难知道，当初是否真的有个善歌善舞且才华非凡的朗姬作为模特，还是画工们离奇的的想象和杰出的创造。不管怎样，反弹琵琶都是大唐文化一个永恒的符号</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7F17E0-AD74-417C-8222-85F37202D6E9}" type="slidenum">
              <a:rPr lang="en-US" altLang="zh-CN"/>
              <a:pPr/>
              <a:t>22</a:t>
            </a:fld>
            <a:endParaRPr lang="en-US" altLang="zh-CN"/>
          </a:p>
        </p:txBody>
      </p:sp>
      <p:sp>
        <p:nvSpPr>
          <p:cNvPr id="172034" name="Rectangle 2"/>
          <p:cNvSpPr>
            <a:spLocks noRot="1" noChangeArrowheads="1" noTextEdit="1"/>
          </p:cNvSpPr>
          <p:nvPr>
            <p:ph type="sldImg"/>
          </p:nvPr>
        </p:nvSpPr>
        <p:spPr>
          <a:ln/>
        </p:spPr>
      </p:sp>
      <p:sp>
        <p:nvSpPr>
          <p:cNvPr id="172035" name="Rectangle 3"/>
          <p:cNvSpPr>
            <a:spLocks noGrp="1" noChangeArrowheads="1"/>
          </p:cNvSpPr>
          <p:nvPr>
            <p:ph type="body" idx="1"/>
          </p:nvPr>
        </p:nvSpPr>
        <p:spPr/>
        <p:txBody>
          <a:bodyPr/>
          <a:lstStyle/>
          <a:p>
            <a:r>
              <a:rPr lang="zh-CN" altLang="en-US"/>
              <a:t>飞天，是佛教中</a:t>
            </a:r>
            <a:r>
              <a:rPr lang="zh-CN" altLang="en-US">
                <a:hlinkClick r:id="rId3"/>
              </a:rPr>
              <a:t>乾闼婆</a:t>
            </a:r>
            <a:r>
              <a:rPr lang="zh-CN" altLang="en-US"/>
              <a:t>和</a:t>
            </a:r>
            <a:r>
              <a:rPr lang="zh-CN" altLang="en-US">
                <a:hlinkClick r:id="rId4"/>
              </a:rPr>
              <a:t>紧那罗</a:t>
            </a:r>
            <a:r>
              <a:rPr lang="zh-CN" altLang="en-US"/>
              <a:t>的化身。乾闼婆，意译为天歌神、紧那罗，意译为天乐神。原是古印度神话中的娱乐神和歌舞神，是一对夫妻，后被佛教吸收为天龙八部众神之一 。</a:t>
            </a:r>
          </a:p>
          <a:p>
            <a:r>
              <a:rPr lang="zh-CN" altLang="en-US"/>
              <a:t>他们在佛国里奏乐、歌舞，但不能飞翔于云霄。后来，乾闼婆和紧那罗相混合，男女不分，职能不分，合为一体，变为飞天。现在，把早期在天宫奏乐的叫“天宫伎乐”，把后来持乐器歌舞的称“飞天伎乐”。</a:t>
            </a:r>
            <a:br>
              <a:rPr lang="zh-CN" altLang="en-US"/>
            </a:b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0C0152-A789-4E35-9441-510ED9F6CE48}" type="slidenum">
              <a:rPr lang="en-US" altLang="zh-CN"/>
              <a:pPr/>
              <a:t>25</a:t>
            </a:fld>
            <a:endParaRPr lang="en-US" altLang="zh-CN"/>
          </a:p>
        </p:txBody>
      </p:sp>
      <p:sp>
        <p:nvSpPr>
          <p:cNvPr id="173058" name="Rectangle 2"/>
          <p:cNvSpPr>
            <a:spLocks noRot="1" noChangeArrowheads="1" noTextEdit="1"/>
          </p:cNvSpPr>
          <p:nvPr>
            <p:ph type="sldImg"/>
          </p:nvPr>
        </p:nvSpPr>
        <p:spPr>
          <a:ln/>
        </p:spPr>
      </p:sp>
      <p:sp>
        <p:nvSpPr>
          <p:cNvPr id="173059" name="Rectangle 3"/>
          <p:cNvSpPr>
            <a:spLocks noGrp="1" noChangeArrowheads="1"/>
          </p:cNvSpPr>
          <p:nvPr>
            <p:ph type="body" idx="1"/>
          </p:nvPr>
        </p:nvSpPr>
        <p:spPr/>
        <p:txBody>
          <a:bodyPr/>
          <a:lstStyle/>
          <a:p>
            <a:r>
              <a:rPr lang="zh-CN" altLang="en-US"/>
              <a:t>全剧以楚史和楚文化为依据，以伟大诗人屈原的爱国主义思想为核心，以曾侯乙编钟为主体，运用歌、乐、舞相结合的艺术形式，来展现古代楚国的文化艺术、民俗风情、祭祀、农事、征战及宫廷宴乐等情景。既保持了古朴粗矿的荆楚风貌，又具有浪漫主义的艺术特色。该剧公演后获得极大的成功，受到中外人士的高度赞扬。通过在海外的演出，为增进中国同世界各国人民之间的友谊和文化艺术交流作出了贡献。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55CFC9-A006-4830-BEAF-21DD81D3D823}" type="slidenum">
              <a:rPr lang="en-US" altLang="zh-CN"/>
              <a:pPr/>
              <a:t>26</a:t>
            </a:fld>
            <a:endParaRPr lang="en-US" altLang="zh-CN"/>
          </a:p>
        </p:txBody>
      </p:sp>
      <p:sp>
        <p:nvSpPr>
          <p:cNvPr id="174082" name="Rectangle 2"/>
          <p:cNvSpPr>
            <a:spLocks noRot="1" noChangeArrowheads="1" noTextEdit="1"/>
          </p:cNvSpPr>
          <p:nvPr>
            <p:ph type="sldImg"/>
          </p:nvPr>
        </p:nvSpPr>
        <p:spPr>
          <a:ln/>
        </p:spPr>
      </p:sp>
      <p:sp>
        <p:nvSpPr>
          <p:cNvPr id="174083" name="Rectangle 3"/>
          <p:cNvSpPr>
            <a:spLocks noGrp="1" noChangeArrowheads="1"/>
          </p:cNvSpPr>
          <p:nvPr>
            <p:ph type="body" idx="1"/>
          </p:nvPr>
        </p:nvSpPr>
        <p:spPr/>
        <p:txBody>
          <a:bodyPr/>
          <a:lstStyle/>
          <a:p>
            <a:r>
              <a:rPr lang="zh-CN" altLang="en-US"/>
              <a:t>祭孔乐舞是迄今为止中国仅存的雅乐舞</a:t>
            </a:r>
            <a:r>
              <a:rPr lang="en-US" altLang="zh-CN"/>
              <a:t>,</a:t>
            </a:r>
            <a:r>
              <a:rPr lang="zh-CN" altLang="en-US"/>
              <a:t>而</a:t>
            </a:r>
            <a:r>
              <a:rPr lang="en-US" altLang="zh-CN"/>
              <a:t>《</a:t>
            </a:r>
            <a:r>
              <a:rPr lang="zh-CN" altLang="en-US"/>
              <a:t>韶乐</a:t>
            </a:r>
            <a:r>
              <a:rPr lang="en-US" altLang="zh-CN"/>
              <a:t>》</a:t>
            </a:r>
            <a:r>
              <a:rPr lang="zh-CN" altLang="en-US"/>
              <a:t>又是中国历代王朝所尊崇的雅乐体系的重要组成部分之一。</a:t>
            </a:r>
          </a:p>
          <a:p>
            <a:r>
              <a:rPr lang="zh-CN" altLang="en-US"/>
              <a:t>这两者在我国雅乐发展历史中同样担当着举足轻重的作用。</a:t>
            </a:r>
          </a:p>
          <a:p>
            <a:r>
              <a:rPr lang="zh-CN" altLang="en-US"/>
              <a:t>根据艺术发展的规律</a:t>
            </a:r>
            <a:r>
              <a:rPr lang="en-US" altLang="zh-CN"/>
              <a:t>,</a:t>
            </a:r>
            <a:r>
              <a:rPr lang="zh-CN" altLang="en-US"/>
              <a:t>任何艺术的新生作品都必须或必然是建立在继承文化传统的基础之上</a:t>
            </a:r>
            <a:r>
              <a:rPr lang="en-US" altLang="zh-CN"/>
              <a:t>,</a:t>
            </a:r>
            <a:r>
              <a:rPr lang="zh-CN" altLang="en-US"/>
              <a:t>祭孔乐舞的诞生虽然远离</a:t>
            </a:r>
            <a:r>
              <a:rPr lang="en-US" altLang="zh-CN"/>
              <a:t>《</a:t>
            </a:r>
            <a:r>
              <a:rPr lang="zh-CN" altLang="en-US"/>
              <a:t>韶乐</a:t>
            </a:r>
            <a:r>
              <a:rPr lang="en-US" altLang="zh-CN"/>
              <a:t>》</a:t>
            </a:r>
            <a:r>
              <a:rPr lang="zh-CN" altLang="en-US"/>
              <a:t>流传盛行的西周</a:t>
            </a:r>
            <a:r>
              <a:rPr lang="en-US" altLang="zh-CN"/>
              <a:t>,</a:t>
            </a:r>
            <a:r>
              <a:rPr lang="zh-CN" altLang="en-US"/>
              <a:t>但是</a:t>
            </a:r>
            <a:r>
              <a:rPr lang="en-US" altLang="zh-CN"/>
              <a:t>,《</a:t>
            </a:r>
            <a:r>
              <a:rPr lang="zh-CN" altLang="en-US"/>
              <a:t>韶乐</a:t>
            </a:r>
            <a:r>
              <a:rPr lang="en-US" altLang="zh-CN"/>
              <a:t>》</a:t>
            </a:r>
            <a:r>
              <a:rPr lang="zh-CN" altLang="en-US"/>
              <a:t>的内容和形式却深深影响着中国历代雅乐的制作和发展。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FB7494-4023-42DE-BE8B-F8F989F9616A}" type="slidenum">
              <a:rPr lang="en-US" altLang="zh-CN"/>
              <a:pPr/>
              <a:t>27</a:t>
            </a:fld>
            <a:endParaRPr lang="en-US" altLang="zh-CN"/>
          </a:p>
        </p:txBody>
      </p:sp>
      <p:sp>
        <p:nvSpPr>
          <p:cNvPr id="175106" name="Rectangle 2"/>
          <p:cNvSpPr>
            <a:spLocks noRot="1" noChangeArrowheads="1" noTextEdit="1"/>
          </p:cNvSpPr>
          <p:nvPr>
            <p:ph type="sldImg"/>
          </p:nvPr>
        </p:nvSpPr>
        <p:spPr>
          <a:ln/>
        </p:spPr>
      </p:sp>
      <p:sp>
        <p:nvSpPr>
          <p:cNvPr id="175107" name="Rectangle 3"/>
          <p:cNvSpPr>
            <a:spLocks noGrp="1" noChangeArrowheads="1"/>
          </p:cNvSpPr>
          <p:nvPr>
            <p:ph type="body" idx="1"/>
          </p:nvPr>
        </p:nvSpPr>
        <p:spPr/>
        <p:txBody>
          <a:bodyPr/>
          <a:lstStyle/>
          <a:p>
            <a:r>
              <a:rPr lang="zh-CN" altLang="en-US"/>
              <a:t>久负盛名的“仿唐乐舞”被誉为中国第一台仿古乐舞。自</a:t>
            </a:r>
            <a:r>
              <a:rPr lang="en-US" altLang="zh-CN"/>
              <a:t>1982</a:t>
            </a:r>
            <a:r>
              <a:rPr lang="zh-CN" altLang="en-US"/>
              <a:t>年</a:t>
            </a:r>
            <a:r>
              <a:rPr lang="en-US" altLang="zh-CN"/>
              <a:t>9</a:t>
            </a:r>
            <a:r>
              <a:rPr lang="zh-CN" altLang="en-US"/>
              <a:t>月推出以来，至今已在陕西省旅游业的特色旅游产品，曾出访过世界上的</a:t>
            </a:r>
            <a:r>
              <a:rPr lang="en-US" altLang="zh-CN"/>
              <a:t>40</a:t>
            </a:r>
            <a:r>
              <a:rPr lang="zh-CN" altLang="en-US"/>
              <a:t>多个国家，接待过数以百计的国家首脑和政府要员，为我省旅游业做出卓著贡献。从</a:t>
            </a:r>
            <a:r>
              <a:rPr lang="en-US" altLang="zh-CN"/>
              <a:t>1987</a:t>
            </a:r>
            <a:r>
              <a:rPr lang="zh-CN" altLang="en-US"/>
              <a:t>年起，陕歌与唐乐宫合作，在唐乐宫推出“仿唐乐舞”，获得极大成功。从此，旅游与文化相互支撑，相得益彰。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BB5A7F-D846-4B49-91F7-4BADB7EF2E72}" type="slidenum">
              <a:rPr lang="en-US" altLang="zh-CN"/>
              <a:pPr/>
              <a:t>28</a:t>
            </a:fld>
            <a:endParaRPr lang="en-US" altLang="zh-CN"/>
          </a:p>
        </p:txBody>
      </p:sp>
      <p:sp>
        <p:nvSpPr>
          <p:cNvPr id="176130" name="Rectangle 2"/>
          <p:cNvSpPr>
            <a:spLocks noRot="1" noChangeArrowheads="1" noTextEdit="1"/>
          </p:cNvSpPr>
          <p:nvPr>
            <p:ph type="sldImg"/>
          </p:nvPr>
        </p:nvSpPr>
        <p:spPr>
          <a:ln/>
        </p:spPr>
      </p:sp>
      <p:sp>
        <p:nvSpPr>
          <p:cNvPr id="176131" name="Rectangle 3"/>
          <p:cNvSpPr>
            <a:spLocks noGrp="1" noChangeArrowheads="1"/>
          </p:cNvSpPr>
          <p:nvPr>
            <p:ph type="body" idx="1"/>
          </p:nvPr>
        </p:nvSpPr>
        <p:spPr/>
        <p:txBody>
          <a:bodyPr/>
          <a:lstStyle/>
          <a:p>
            <a:r>
              <a:rPr lang="en-US" altLang="zh-CN"/>
              <a:t>《</a:t>
            </a:r>
            <a:r>
              <a:rPr lang="zh-CN" altLang="en-US"/>
              <a:t>铜雀伎</a:t>
            </a:r>
            <a:r>
              <a:rPr lang="en-US" altLang="zh-CN"/>
              <a:t>》</a:t>
            </a:r>
            <a:r>
              <a:rPr lang="zh-CN" altLang="en-US"/>
              <a:t>有浓郁的民族风格，舞蹈语言新颖别致，既不同于戏曲舞蹈风格的</a:t>
            </a:r>
            <a:r>
              <a:rPr lang="en-US" altLang="zh-CN"/>
              <a:t>《</a:t>
            </a:r>
            <a:r>
              <a:rPr lang="zh-CN" altLang="en-US"/>
              <a:t>红楼梦</a:t>
            </a:r>
            <a:r>
              <a:rPr lang="en-US" altLang="zh-CN"/>
              <a:t>》</a:t>
            </a:r>
            <a:r>
              <a:rPr lang="zh-CN" altLang="en-US"/>
              <a:t>，又不同于敦煌壁画风格的</a:t>
            </a:r>
            <a:r>
              <a:rPr lang="en-US" altLang="zh-CN"/>
              <a:t>《</a:t>
            </a:r>
            <a:r>
              <a:rPr lang="zh-CN" altLang="en-US"/>
              <a:t>丝路花雨</a:t>
            </a:r>
            <a:r>
              <a:rPr lang="en-US" altLang="zh-CN"/>
              <a:t>》</a:t>
            </a:r>
            <a:r>
              <a:rPr lang="zh-CN" altLang="en-US"/>
              <a:t>，更不同于洋语言兼用的一些舞剧。</a:t>
            </a:r>
          </a:p>
          <a:p>
            <a:r>
              <a:rPr lang="zh-CN" altLang="en-US"/>
              <a:t>它自成一体，开拓了中国古典舞蹈的又一个新领域。 </a:t>
            </a:r>
            <a:br>
              <a:rPr lang="zh-CN" altLang="en-US"/>
            </a:b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7FE431-1ED4-4148-A96D-9E070CA1E8C0}" type="slidenum">
              <a:rPr lang="en-US" altLang="zh-CN"/>
              <a:pPr/>
              <a:t>29</a:t>
            </a:fld>
            <a:endParaRPr lang="en-US" altLang="zh-CN"/>
          </a:p>
        </p:txBody>
      </p:sp>
      <p:sp>
        <p:nvSpPr>
          <p:cNvPr id="177154" name="Rectangle 2"/>
          <p:cNvSpPr>
            <a:spLocks noRot="1" noChangeArrowheads="1" noTextEdit="1"/>
          </p:cNvSpPr>
          <p:nvPr>
            <p:ph type="sldImg"/>
          </p:nvPr>
        </p:nvSpPr>
        <p:spPr>
          <a:ln/>
        </p:spPr>
      </p:sp>
      <p:sp>
        <p:nvSpPr>
          <p:cNvPr id="177155" name="Rectangle 3"/>
          <p:cNvSpPr>
            <a:spLocks noGrp="1" noChangeArrowheads="1"/>
          </p:cNvSpPr>
          <p:nvPr>
            <p:ph type="body" idx="1"/>
          </p:nvPr>
        </p:nvSpPr>
        <p:spPr/>
        <p:txBody>
          <a:bodyPr/>
          <a:lstStyle/>
          <a:p>
            <a:r>
              <a:rPr lang="zh-CN" altLang="en-US"/>
              <a:t>由西安歌舞剧院创作的大型乐舞，表现了秦、唐两朝的古风古韵，曾荣获国家文化部创作奖，陕西省戏剧节、西安市艺术节编导和演出一等奖。西安歌舞剧院是在国内外享有盛誉的专业表演艺术团体，</a:t>
            </a:r>
            <a:r>
              <a:rPr lang="en-US" altLang="zh-CN"/>
              <a:t>40</a:t>
            </a:r>
            <a:r>
              <a:rPr lang="zh-CN" altLang="en-US"/>
              <a:t>余年辉煌的艺术历程造就了一批造诣深厚的艺术家，多次参加国际艺术节和国家级重大艺术活动，并先后出访过英国、日本、荷兰、德国、法国、西班牙、比利时、韩国、香港、澳门等国家和地区，受到中外观众的好评。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DD42FE-07C9-4CC3-93AD-3CF317B8276E}" type="slidenum">
              <a:rPr lang="en-US" altLang="zh-CN"/>
              <a:pPr/>
              <a:t>31</a:t>
            </a:fld>
            <a:endParaRPr lang="en-US" altLang="zh-CN"/>
          </a:p>
        </p:txBody>
      </p:sp>
      <p:sp>
        <p:nvSpPr>
          <p:cNvPr id="178178" name="Rectangle 2"/>
          <p:cNvSpPr>
            <a:spLocks noRot="1" noChangeArrowheads="1" noTextEdit="1"/>
          </p:cNvSpPr>
          <p:nvPr>
            <p:ph type="sldImg"/>
          </p:nvPr>
        </p:nvSpPr>
        <p:spPr>
          <a:ln/>
        </p:spPr>
      </p:sp>
      <p:sp>
        <p:nvSpPr>
          <p:cNvPr id="178179" name="Rectangle 3"/>
          <p:cNvSpPr>
            <a:spLocks noGrp="1" noChangeArrowheads="1"/>
          </p:cNvSpPr>
          <p:nvPr>
            <p:ph type="body" idx="1"/>
          </p:nvPr>
        </p:nvSpPr>
        <p:spPr/>
        <p:txBody>
          <a:bodyPr/>
          <a:lstStyle/>
          <a:p>
            <a:r>
              <a:rPr lang="zh-CN" altLang="en-US"/>
              <a:t>　丝路花雨是甘肃敦煌艺术剧院取材于敦煌莫高窟壁画艺术，博采各地民间歌舞之长，创作的大型民族舞剧。</a:t>
            </a:r>
            <a:r>
              <a:rPr lang="en-US" altLang="zh-CN"/>
              <a:t>《</a:t>
            </a:r>
            <a:r>
              <a:rPr lang="zh-CN" altLang="en-US"/>
              <a:t>丝</a:t>
            </a:r>
            <a:r>
              <a:rPr lang="en-US" altLang="zh-CN"/>
              <a:t>》</a:t>
            </a:r>
            <a:r>
              <a:rPr lang="zh-CN" altLang="en-US"/>
              <a:t>剧是首创于</a:t>
            </a:r>
            <a:r>
              <a:rPr lang="en-US" altLang="zh-CN"/>
              <a:t>1979</a:t>
            </a:r>
            <a:r>
              <a:rPr lang="zh-CN" altLang="en-US"/>
              <a:t>年，被新闻媒介赞誉为“活的敦煌壁画，美的艺术享受”，“此舞只应天上有，人间难得看几回”，</a:t>
            </a:r>
            <a:r>
              <a:rPr lang="en-US" altLang="zh-CN"/>
              <a:t>《</a:t>
            </a:r>
            <a:r>
              <a:rPr lang="zh-CN" altLang="en-US"/>
              <a:t>丝</a:t>
            </a:r>
            <a:r>
              <a:rPr lang="en-US" altLang="zh-CN"/>
              <a:t>》“</a:t>
            </a:r>
            <a:r>
              <a:rPr lang="zh-CN" altLang="en-US"/>
              <a:t>为中国舞蹈剧开辟了新路”。</a:t>
            </a:r>
          </a:p>
          <a:p>
            <a:r>
              <a:rPr lang="zh-CN" altLang="en-US"/>
              <a:t> 此后多年，此剧在全国各地久演不衰，所到之处盛况空前，期间还先后到朝鲜、日本、意大利、泰国、法国、拉脱维亚、香港等国家和地区，至今已演出了</a:t>
            </a:r>
            <a:r>
              <a:rPr lang="en-US" altLang="zh-CN"/>
              <a:t>940</a:t>
            </a:r>
            <a:r>
              <a:rPr lang="zh-CN" altLang="en-US"/>
              <a:t>多场，成为东方艺术的奇葩，并被作为</a:t>
            </a:r>
            <a:r>
              <a:rPr lang="en-US" altLang="zh-CN"/>
              <a:t>20</a:t>
            </a:r>
            <a:r>
              <a:rPr lang="zh-CN" altLang="en-US"/>
              <a:t>世纪中国舞蹈经典剧之作，载入中华民族艺术史册。 </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6258" name="Rectangle 2"/>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smtClean="0"/>
              <a:t>单击此处编辑母版标题样式</a:t>
            </a:r>
          </a:p>
        </p:txBody>
      </p:sp>
      <p:sp>
        <p:nvSpPr>
          <p:cNvPr id="96259"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96260" name="Rectangle 4"/>
          <p:cNvSpPr>
            <a:spLocks noGrp="1" noChangeArrowheads="1"/>
          </p:cNvSpPr>
          <p:nvPr>
            <p:ph type="dt" sz="half" idx="2"/>
          </p:nvPr>
        </p:nvSpPr>
        <p:spPr/>
        <p:txBody>
          <a:bodyPr/>
          <a:lstStyle>
            <a:lvl1pPr>
              <a:defRPr/>
            </a:lvl1pPr>
          </a:lstStyle>
          <a:p>
            <a:endParaRPr lang="en-US" altLang="zh-CN"/>
          </a:p>
        </p:txBody>
      </p:sp>
      <p:sp>
        <p:nvSpPr>
          <p:cNvPr id="96261" name="Rectangle 5"/>
          <p:cNvSpPr>
            <a:spLocks noGrp="1" noChangeArrowheads="1"/>
          </p:cNvSpPr>
          <p:nvPr>
            <p:ph type="ftr" sz="quarter" idx="3"/>
          </p:nvPr>
        </p:nvSpPr>
        <p:spPr/>
        <p:txBody>
          <a:bodyPr/>
          <a:lstStyle>
            <a:lvl1pPr>
              <a:defRPr/>
            </a:lvl1pPr>
          </a:lstStyle>
          <a:p>
            <a:endParaRPr lang="en-US" altLang="zh-CN"/>
          </a:p>
        </p:txBody>
      </p:sp>
      <p:sp>
        <p:nvSpPr>
          <p:cNvPr id="96262" name="Rectangle 6"/>
          <p:cNvSpPr>
            <a:spLocks noGrp="1" noChangeArrowheads="1"/>
          </p:cNvSpPr>
          <p:nvPr>
            <p:ph type="sldNum" sz="quarter" idx="4"/>
          </p:nvPr>
        </p:nvSpPr>
        <p:spPr/>
        <p:txBody>
          <a:bodyPr/>
          <a:lstStyle>
            <a:lvl1pPr>
              <a:defRPr/>
            </a:lvl1pPr>
          </a:lstStyle>
          <a:p>
            <a:fld id="{AB3677D5-FCFE-4BFD-89D3-BFC7E3CF16C4}" type="slidenum">
              <a:rPr lang="en-US" altLang="zh-CN"/>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9E42FF61-E97A-432E-857B-0FC00732493F}" type="slidenum">
              <a:rPr lang="en-US" altLang="zh-CN"/>
              <a:pPr/>
              <a:t>‹#›</a:t>
            </a:fld>
            <a:endParaRPr lang="en-US" altLang="zh-CN"/>
          </a:p>
        </p:txBody>
      </p:sp>
    </p:spTree>
    <p:extLst>
      <p:ext uri="{BB962C8B-B14F-4D97-AF65-F5344CB8AC3E}">
        <p14:creationId xmlns:p14="http://schemas.microsoft.com/office/powerpoint/2010/main" val="2035319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0ACDBD83-BC60-45F4-9DAD-75AADC49C5B1}" type="slidenum">
              <a:rPr lang="en-US" altLang="zh-CN"/>
              <a:pPr/>
              <a:t>‹#›</a:t>
            </a:fld>
            <a:endParaRPr lang="en-US" altLang="zh-CN"/>
          </a:p>
        </p:txBody>
      </p:sp>
    </p:spTree>
    <p:extLst>
      <p:ext uri="{BB962C8B-B14F-4D97-AF65-F5344CB8AC3E}">
        <p14:creationId xmlns:p14="http://schemas.microsoft.com/office/powerpoint/2010/main" val="1707081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AB784130-02C4-48DE-A9E1-1BC01D7F3CDF}" type="slidenum">
              <a:rPr lang="en-US" altLang="zh-CN"/>
              <a:pPr/>
              <a:t>‹#›</a:t>
            </a:fld>
            <a:endParaRPr lang="en-US" altLang="zh-CN"/>
          </a:p>
        </p:txBody>
      </p:sp>
    </p:spTree>
    <p:extLst>
      <p:ext uri="{BB962C8B-B14F-4D97-AF65-F5344CB8AC3E}">
        <p14:creationId xmlns:p14="http://schemas.microsoft.com/office/powerpoint/2010/main" val="915406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4CC44E23-7DC1-4527-992F-9A3BE7670913}" type="slidenum">
              <a:rPr lang="en-US" altLang="zh-CN"/>
              <a:pPr/>
              <a:t>‹#›</a:t>
            </a:fld>
            <a:endParaRPr lang="en-US" altLang="zh-CN"/>
          </a:p>
        </p:txBody>
      </p:sp>
    </p:spTree>
    <p:extLst>
      <p:ext uri="{BB962C8B-B14F-4D97-AF65-F5344CB8AC3E}">
        <p14:creationId xmlns:p14="http://schemas.microsoft.com/office/powerpoint/2010/main" val="3447096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EF03AC6E-A9CF-4E57-A080-FFCC326C8490}" type="slidenum">
              <a:rPr lang="en-US" altLang="zh-CN"/>
              <a:pPr/>
              <a:t>‹#›</a:t>
            </a:fld>
            <a:endParaRPr lang="en-US" altLang="zh-CN"/>
          </a:p>
        </p:txBody>
      </p:sp>
    </p:spTree>
    <p:extLst>
      <p:ext uri="{BB962C8B-B14F-4D97-AF65-F5344CB8AC3E}">
        <p14:creationId xmlns:p14="http://schemas.microsoft.com/office/powerpoint/2010/main" val="2084712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0838CD4B-A427-4981-8320-954957B15BBF}" type="slidenum">
              <a:rPr lang="en-US" altLang="zh-CN"/>
              <a:pPr/>
              <a:t>‹#›</a:t>
            </a:fld>
            <a:endParaRPr lang="en-US" altLang="zh-CN"/>
          </a:p>
        </p:txBody>
      </p:sp>
    </p:spTree>
    <p:extLst>
      <p:ext uri="{BB962C8B-B14F-4D97-AF65-F5344CB8AC3E}">
        <p14:creationId xmlns:p14="http://schemas.microsoft.com/office/powerpoint/2010/main" val="506587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CF6100C3-E118-418F-A2E4-BC3577BC5FAF}" type="slidenum">
              <a:rPr lang="en-US" altLang="zh-CN"/>
              <a:pPr/>
              <a:t>‹#›</a:t>
            </a:fld>
            <a:endParaRPr lang="en-US" altLang="zh-CN"/>
          </a:p>
        </p:txBody>
      </p:sp>
    </p:spTree>
    <p:extLst>
      <p:ext uri="{BB962C8B-B14F-4D97-AF65-F5344CB8AC3E}">
        <p14:creationId xmlns:p14="http://schemas.microsoft.com/office/powerpoint/2010/main" val="2970088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DC38DED-9FB0-438B-8BD9-15F225F35ABD}" type="slidenum">
              <a:rPr lang="en-US" altLang="zh-CN"/>
              <a:pPr/>
              <a:t>‹#›</a:t>
            </a:fld>
            <a:endParaRPr lang="en-US" altLang="zh-CN"/>
          </a:p>
        </p:txBody>
      </p:sp>
    </p:spTree>
    <p:extLst>
      <p:ext uri="{BB962C8B-B14F-4D97-AF65-F5344CB8AC3E}">
        <p14:creationId xmlns:p14="http://schemas.microsoft.com/office/powerpoint/2010/main" val="3543429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03B3478-6751-4C75-AC55-A3D281A59C32}" type="slidenum">
              <a:rPr lang="en-US" altLang="zh-CN"/>
              <a:pPr/>
              <a:t>‹#›</a:t>
            </a:fld>
            <a:endParaRPr lang="en-US" altLang="zh-CN"/>
          </a:p>
        </p:txBody>
      </p:sp>
    </p:spTree>
    <p:extLst>
      <p:ext uri="{BB962C8B-B14F-4D97-AF65-F5344CB8AC3E}">
        <p14:creationId xmlns:p14="http://schemas.microsoft.com/office/powerpoint/2010/main" val="980290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C11AA05-9B29-4B1C-9101-93651042E990}" type="slidenum">
              <a:rPr lang="en-US" altLang="zh-CN"/>
              <a:pPr/>
              <a:t>‹#›</a:t>
            </a:fld>
            <a:endParaRPr lang="en-US" altLang="zh-CN"/>
          </a:p>
        </p:txBody>
      </p:sp>
    </p:spTree>
    <p:extLst>
      <p:ext uri="{BB962C8B-B14F-4D97-AF65-F5344CB8AC3E}">
        <p14:creationId xmlns:p14="http://schemas.microsoft.com/office/powerpoint/2010/main" val="3917310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95234" name="Rectangle 2"/>
          <p:cNvSpPr>
            <a:spLocks noGrp="1" noRot="1" noChangeArrowheads="1"/>
          </p:cNvSpPr>
          <p:nvPr>
            <p:ph type="title"/>
          </p:nvPr>
        </p:nvSpPr>
        <p:spPr bwMode="auto">
          <a:xfrm>
            <a:off x="301625" y="6096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95235" name="Rectangle 3"/>
          <p:cNvSpPr>
            <a:spLocks noGrp="1" noRot="1" noChangeArrowheads="1"/>
          </p:cNvSpPr>
          <p:nvPr>
            <p:ph type="body" idx="1"/>
          </p:nvPr>
        </p:nvSpPr>
        <p:spPr bwMode="auto">
          <a:xfrm>
            <a:off x="301625" y="1905000"/>
            <a:ext cx="854075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95236" name="Rectangle 4"/>
          <p:cNvSpPr>
            <a:spLocks noGrp="1" noChangeArrowheads="1"/>
          </p:cNvSpPr>
          <p:nvPr>
            <p:ph type="dt" sz="half" idx="2"/>
          </p:nvPr>
        </p:nvSpPr>
        <p:spPr bwMode="auto">
          <a:xfrm>
            <a:off x="301625"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95237"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95238" name="Rectangle 6"/>
          <p:cNvSpPr>
            <a:spLocks noGrp="1" noChangeArrowheads="1"/>
          </p:cNvSpPr>
          <p:nvPr>
            <p:ph type="sldNum" sz="quarter" idx="4"/>
          </p:nvPr>
        </p:nvSpPr>
        <p:spPr bwMode="auto">
          <a:xfrm>
            <a:off x="6553200"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2775B486-E337-40EA-A9E8-AE17C709CF3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fontAlgn="base">
        <a:spcBef>
          <a:spcPct val="20000"/>
        </a:spcBef>
        <a:spcAft>
          <a:spcPct val="0"/>
        </a:spcAft>
        <a:buClr>
          <a:schemeClr val="hlink"/>
        </a:buClr>
        <a:buSzPct val="75000"/>
        <a:buFont typeface="Wingdings" pitchFamily="2" charset="2"/>
        <a:buChar char="v"/>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hlink"/>
        </a:buClr>
        <a:buSzPct val="85000"/>
        <a:buFont typeface="Wingdings" pitchFamily="2" charset="2"/>
        <a:buChar char="v"/>
        <a:defRPr sz="2400">
          <a:solidFill>
            <a:schemeClr val="tx1"/>
          </a:solidFill>
          <a:latin typeface="+mn-lt"/>
          <a:ea typeface="+mn-ea"/>
        </a:defRPr>
      </a:lvl3pPr>
      <a:lvl4pPr marL="1600200" indent="-228600" algn="l" rtl="0" fontAlgn="base">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hi.baidu.com/yesjs/album/item/ef58b7633e51377b0c33fa87.html" TargetMode="External"/><Relationship Id="rId1" Type="http://schemas.openxmlformats.org/officeDocument/2006/relationships/slideLayout" Target="../slideLayouts/slideLayout4.xml"/><Relationship Id="rId5" Type="http://schemas.openxmlformats.org/officeDocument/2006/relationships/image" Target="../media/image4.jpeg"/><Relationship Id="rId4" Type="http://schemas.openxmlformats.org/officeDocument/2006/relationships/hyperlink" Target="http://hi.baidu.com/kktw1234/album/item/f12720a92c81f9a9cb130cdb.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hyperlink" Target="http://bbs.ssfeng.com/bbs/viewthread.php?tid=246224"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gz.jxcn.cn/NEWS/2008-10/20081017133234.ht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8.xml.rels><?xml version="1.0" encoding="UTF-8" standalone="yes"?>
<Relationships xmlns="http://schemas.openxmlformats.org/package/2006/relationships"><Relationship Id="rId3" Type="http://schemas.openxmlformats.org/officeDocument/2006/relationships/hyperlink" Target="http://blogtest.soufun.com/11606178/2060364/articledetail.ht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9.xml.rels><?xml version="1.0" encoding="UTF-8" standalone="yes"?>
<Relationships xmlns="http://schemas.openxmlformats.org/package/2006/relationships"><Relationship Id="rId3" Type="http://schemas.openxmlformats.org/officeDocument/2006/relationships/hyperlink" Target="http://www.xalyzx.cn/custom/detail.asp?ID=370" TargetMode="External"/><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29.jpeg"/></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hyperlink" Target="http://www.zhongshe.com/forum/view_70090,0_1.html" TargetMode="Externa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hyperlink" Target="http://ent.zjol.com.cn/05ent/system/2008/08/04/009805579.s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rrowheads="1"/>
          </p:cNvSpPr>
          <p:nvPr>
            <p:ph type="ctrTitle"/>
          </p:nvPr>
        </p:nvSpPr>
        <p:spPr>
          <a:xfrm>
            <a:off x="609600" y="1752600"/>
            <a:ext cx="7772400" cy="869950"/>
          </a:xfrm>
        </p:spPr>
        <p:txBody>
          <a:bodyPr/>
          <a:lstStyle/>
          <a:p>
            <a:r>
              <a:rPr lang="zh-CN" altLang="en-US"/>
              <a:t>中国舞蹈概况</a:t>
            </a:r>
          </a:p>
        </p:txBody>
      </p:sp>
      <p:sp>
        <p:nvSpPr>
          <p:cNvPr id="5123" name="Rectangle 3"/>
          <p:cNvSpPr>
            <a:spLocks noGrp="1" noRot="1" noChangeArrowheads="1"/>
          </p:cNvSpPr>
          <p:nvPr>
            <p:ph type="subTitle" idx="1"/>
          </p:nvPr>
        </p:nvSpPr>
        <p:spPr>
          <a:xfrm>
            <a:off x="1295400" y="3581400"/>
            <a:ext cx="6400800" cy="1752600"/>
          </a:xfrm>
        </p:spPr>
        <p:txBody>
          <a:bodyPr/>
          <a:lstStyle/>
          <a:p>
            <a:r>
              <a:rPr lang="zh-CN" altLang="en-US"/>
              <a:t>主讲：谭健玲</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rrowheads="1"/>
          </p:cNvSpPr>
          <p:nvPr>
            <p:ph type="title"/>
          </p:nvPr>
        </p:nvSpPr>
        <p:spPr/>
        <p:txBody>
          <a:bodyPr/>
          <a:lstStyle/>
          <a:p>
            <a:r>
              <a:rPr lang="zh-CN" altLang="en-US" sz="4000"/>
              <a:t>舞蹈的种类</a:t>
            </a:r>
          </a:p>
        </p:txBody>
      </p:sp>
      <p:sp>
        <p:nvSpPr>
          <p:cNvPr id="112643" name="Rectangle 3"/>
          <p:cNvSpPr>
            <a:spLocks noGrp="1" noRot="1" noChangeArrowheads="1"/>
          </p:cNvSpPr>
          <p:nvPr>
            <p:ph type="body" idx="1"/>
          </p:nvPr>
        </p:nvSpPr>
        <p:spPr/>
        <p:txBody>
          <a:bodyPr/>
          <a:lstStyle/>
          <a:p>
            <a:r>
              <a:rPr lang="zh-CN" altLang="en-US"/>
              <a:t>古典舞蹈</a:t>
            </a:r>
          </a:p>
          <a:p>
            <a:r>
              <a:rPr lang="zh-CN" altLang="en-US"/>
              <a:t>民间舞蹈</a:t>
            </a:r>
          </a:p>
          <a:p>
            <a:r>
              <a:rPr lang="zh-CN" altLang="en-US"/>
              <a:t>现代舞蹈</a:t>
            </a:r>
          </a:p>
          <a:p>
            <a:r>
              <a:rPr lang="zh-CN" altLang="en-US"/>
              <a:t>当代舞蹈</a:t>
            </a:r>
          </a:p>
          <a:p>
            <a:r>
              <a:rPr lang="zh-CN" altLang="en-US"/>
              <a:t>芭蕾舞</a:t>
            </a:r>
          </a:p>
          <a:p>
            <a:r>
              <a:rPr lang="zh-CN" altLang="en-US"/>
              <a:t>我们重点认识一下</a:t>
            </a:r>
            <a:r>
              <a:rPr lang="zh-CN" altLang="en-US" u="sng"/>
              <a:t>民族民间舞蹈</a:t>
            </a:r>
            <a:r>
              <a:rPr lang="zh-CN" altLang="en-US"/>
              <a:t>、</a:t>
            </a:r>
            <a:r>
              <a:rPr lang="zh-CN" altLang="en-US" u="sng"/>
              <a:t>古典舞蹈</a:t>
            </a:r>
            <a:r>
              <a:rPr lang="zh-CN" altLang="en-US"/>
              <a:t>、</a:t>
            </a:r>
            <a:r>
              <a:rPr lang="zh-CN" altLang="en-US" u="sng"/>
              <a:t>现代舞蹈。</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rrowheads="1"/>
          </p:cNvSpPr>
          <p:nvPr>
            <p:ph type="title"/>
          </p:nvPr>
        </p:nvSpPr>
        <p:spPr/>
        <p:txBody>
          <a:bodyPr/>
          <a:lstStyle/>
          <a:p>
            <a:r>
              <a:rPr lang="zh-CN" altLang="en-US"/>
              <a:t>第一部分 民族民间舞</a:t>
            </a:r>
          </a:p>
        </p:txBody>
      </p:sp>
      <p:sp>
        <p:nvSpPr>
          <p:cNvPr id="52227" name="Rectangle 3"/>
          <p:cNvSpPr>
            <a:spLocks noGrp="1" noRot="1" noChangeArrowheads="1"/>
          </p:cNvSpPr>
          <p:nvPr>
            <p:ph type="body" idx="1"/>
          </p:nvPr>
        </p:nvSpPr>
        <p:spPr/>
        <p:txBody>
          <a:bodyPr/>
          <a:lstStyle/>
          <a:p>
            <a:r>
              <a:rPr lang="zh-CN" altLang="en-US"/>
              <a:t>可以被理解为“</a:t>
            </a:r>
            <a:r>
              <a:rPr lang="zh-CN" altLang="en-US" u="sng"/>
              <a:t>民族舞蹈和民间舞蹈</a:t>
            </a:r>
            <a:r>
              <a:rPr lang="zh-CN" altLang="en-US"/>
              <a:t>”。</a:t>
            </a:r>
          </a:p>
          <a:p>
            <a:r>
              <a:rPr lang="zh-CN" altLang="en-US"/>
              <a:t>民族民间舞的实际含义其实应该是指“</a:t>
            </a:r>
            <a:r>
              <a:rPr lang="zh-CN" altLang="en-US" u="sng"/>
              <a:t>中国各民族的民间舞</a:t>
            </a:r>
            <a:r>
              <a:rPr lang="zh-CN" altLang="en-US"/>
              <a:t>”。</a:t>
            </a:r>
          </a:p>
          <a:p>
            <a:r>
              <a:rPr lang="zh-CN" altLang="en-US"/>
              <a:t>全国</a:t>
            </a:r>
            <a:r>
              <a:rPr lang="zh-CN" altLang="en-US" u="sng"/>
              <a:t>五十六个兄弟民族</a:t>
            </a:r>
            <a:r>
              <a:rPr lang="zh-CN" altLang="en-US"/>
              <a:t>的民间舞都可以称为民间舞。</a:t>
            </a:r>
          </a:p>
          <a:p>
            <a:r>
              <a:rPr lang="zh-CN" altLang="en-US"/>
              <a:t>民族民间舞就是</a:t>
            </a:r>
            <a:r>
              <a:rPr lang="zh-CN" altLang="en-US" u="sng"/>
              <a:t>中国各民族的民间舞</a:t>
            </a:r>
            <a:r>
              <a:rPr lang="zh-CN" altLang="en-US"/>
              <a:t>，民间舞这个名称</a:t>
            </a:r>
            <a:r>
              <a:rPr lang="zh-CN" altLang="en-US" u="sng"/>
              <a:t>不宜只被汉族一个民族所独专</a:t>
            </a:r>
            <a:r>
              <a:rPr lang="zh-CN" altLang="en-US"/>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rrowheads="1"/>
          </p:cNvSpPr>
          <p:nvPr>
            <p:ph type="title"/>
          </p:nvPr>
        </p:nvSpPr>
        <p:spPr/>
        <p:txBody>
          <a:bodyPr/>
          <a:lstStyle/>
          <a:p>
            <a:r>
              <a:rPr lang="zh-CN" altLang="en-US"/>
              <a:t>民族舞特点</a:t>
            </a:r>
          </a:p>
        </p:txBody>
      </p:sp>
      <p:sp>
        <p:nvSpPr>
          <p:cNvPr id="104451" name="Rectangle 3"/>
          <p:cNvSpPr>
            <a:spLocks noGrp="1" noRot="1" noChangeArrowheads="1"/>
          </p:cNvSpPr>
          <p:nvPr>
            <p:ph type="body" idx="1"/>
          </p:nvPr>
        </p:nvSpPr>
        <p:spPr/>
        <p:txBody>
          <a:bodyPr/>
          <a:lstStyle/>
          <a:p>
            <a:r>
              <a:rPr lang="zh-CN" altLang="en-US"/>
              <a:t>泛指产生并流传于民间、受民俗文化制约、即兴表演但风格相对稳定、以</a:t>
            </a:r>
            <a:r>
              <a:rPr lang="zh-CN" altLang="en-US" u="sng"/>
              <a:t>自娱为主要功能</a:t>
            </a:r>
            <a:r>
              <a:rPr lang="zh-CN" altLang="en-US"/>
              <a:t>的舞蹈形式。</a:t>
            </a:r>
          </a:p>
          <a:p>
            <a:endParaRPr lang="zh-CN" altLang="en-US"/>
          </a:p>
          <a:p>
            <a:r>
              <a:rPr lang="zh-CN" altLang="en-US"/>
              <a:t>我国舞蹈系列中</a:t>
            </a:r>
            <a:r>
              <a:rPr lang="zh-CN" altLang="en-US" u="sng"/>
              <a:t>数量最多</a:t>
            </a:r>
            <a:r>
              <a:rPr lang="zh-CN" altLang="en-US"/>
              <a:t>。介入生活领域</a:t>
            </a:r>
            <a:r>
              <a:rPr lang="zh-CN" altLang="en-US" u="sng"/>
              <a:t>最广泛、最深入</a:t>
            </a:r>
            <a:r>
              <a:rPr lang="zh-CN" altLang="en-US"/>
              <a:t>。和我们每个人的生活道路联系</a:t>
            </a:r>
            <a:r>
              <a:rPr lang="zh-CN" altLang="en-US" u="sng"/>
              <a:t>最紧密的</a:t>
            </a:r>
            <a:r>
              <a:rPr lang="zh-CN" altLang="en-US"/>
              <a:t>，当数民族舞蹈这一支</a:t>
            </a:r>
            <a:r>
              <a:rPr lang="en-US" altLang="zh-CN"/>
              <a:t>.</a:t>
            </a:r>
          </a:p>
          <a:p>
            <a:endParaRPr lang="en-US" altLang="zh-C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3" name="Picture 7" descr="ef58b7633e51377b0c33fa87">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2971800"/>
            <a:ext cx="4419600" cy="3314700"/>
          </a:xfrm>
          <a:prstGeom prst="rect">
            <a:avLst/>
          </a:prstGeom>
          <a:noFill/>
          <a:extLst>
            <a:ext uri="{909E8E84-426E-40DD-AFC4-6F175D3DCCD1}">
              <a14:hiddenFill xmlns:a14="http://schemas.microsoft.com/office/drawing/2010/main">
                <a:solidFill>
                  <a:srgbClr val="FFFFFF"/>
                </a:solidFill>
              </a14:hiddenFill>
            </a:ext>
          </a:extLst>
        </p:spPr>
      </p:pic>
      <p:pic>
        <p:nvPicPr>
          <p:cNvPr id="50185" name="Picture 9" descr="f12720a92c81f9a9cb130cdb">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l="4247" t="3751" r="23657" b="6250"/>
          <a:stretch>
            <a:fillRect/>
          </a:stretch>
        </p:blipFill>
        <p:spPr bwMode="auto">
          <a:xfrm>
            <a:off x="228600" y="762000"/>
            <a:ext cx="3962400" cy="5486400"/>
          </a:xfrm>
          <a:prstGeom prst="rect">
            <a:avLst/>
          </a:prstGeom>
          <a:noFill/>
          <a:extLst>
            <a:ext uri="{909E8E84-426E-40DD-AFC4-6F175D3DCCD1}">
              <a14:hiddenFill xmlns:a14="http://schemas.microsoft.com/office/drawing/2010/main">
                <a:solidFill>
                  <a:srgbClr val="FFFFFF"/>
                </a:solidFill>
              </a14:hiddenFill>
            </a:ext>
          </a:extLst>
        </p:spPr>
      </p:pic>
      <p:sp>
        <p:nvSpPr>
          <p:cNvPr id="50195" name="Rectangle 19"/>
          <p:cNvSpPr>
            <a:spLocks noGrp="1" noRot="1" noChangeArrowheads="1"/>
          </p:cNvSpPr>
          <p:nvPr>
            <p:ph type="body" sz="half" idx="1"/>
          </p:nvPr>
        </p:nvSpPr>
        <p:spPr>
          <a:xfrm>
            <a:off x="4495800" y="1219200"/>
            <a:ext cx="4194175" cy="1066800"/>
          </a:xfrm>
        </p:spPr>
        <p:txBody>
          <a:bodyPr/>
          <a:lstStyle/>
          <a:p>
            <a:r>
              <a:rPr lang="zh-CN" altLang="en-US" sz="3200"/>
              <a:t>各具特色的民族舞</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rrowheads="1"/>
          </p:cNvSpPr>
          <p:nvPr>
            <p:ph type="title"/>
          </p:nvPr>
        </p:nvSpPr>
        <p:spPr/>
        <p:txBody>
          <a:bodyPr/>
          <a:lstStyle/>
          <a:p>
            <a:r>
              <a:rPr lang="zh-CN" altLang="en-US"/>
              <a:t>民族舞蹈的分类</a:t>
            </a:r>
          </a:p>
        </p:txBody>
      </p:sp>
      <p:sp>
        <p:nvSpPr>
          <p:cNvPr id="47107" name="Rectangle 3"/>
          <p:cNvSpPr>
            <a:spLocks noGrp="1" noRot="1" noChangeArrowheads="1"/>
          </p:cNvSpPr>
          <p:nvPr>
            <p:ph type="body" idx="1"/>
          </p:nvPr>
        </p:nvSpPr>
        <p:spPr/>
        <p:txBody>
          <a:bodyPr/>
          <a:lstStyle/>
          <a:p>
            <a:pPr>
              <a:lnSpc>
                <a:spcPct val="80000"/>
              </a:lnSpc>
            </a:pPr>
            <a:r>
              <a:rPr lang="zh-CN" altLang="en-US" sz="2800"/>
              <a:t>我们从舞蹈功能的角度，将各民族的民间舞蹈分属五大类</a:t>
            </a:r>
          </a:p>
          <a:p>
            <a:pPr>
              <a:lnSpc>
                <a:spcPct val="80000"/>
              </a:lnSpc>
            </a:pPr>
            <a:r>
              <a:rPr lang="zh-CN" altLang="en-US" sz="2800" b="1" u="sng"/>
              <a:t>节令习俗舞蹈</a:t>
            </a:r>
            <a:r>
              <a:rPr lang="en-US" altLang="zh-CN" sz="2800" u="sng"/>
              <a:t>;</a:t>
            </a:r>
          </a:p>
          <a:p>
            <a:pPr>
              <a:lnSpc>
                <a:spcPct val="80000"/>
              </a:lnSpc>
            </a:pPr>
            <a:r>
              <a:rPr lang="zh-CN" altLang="en-US" sz="2800" b="1" u="sng"/>
              <a:t>生活习俗舞蹈</a:t>
            </a:r>
            <a:r>
              <a:rPr lang="en-US" altLang="zh-CN" sz="2800"/>
              <a:t>(</a:t>
            </a:r>
            <a:r>
              <a:rPr lang="zh-CN" altLang="en-US" sz="2800"/>
              <a:t>如自娱自乐、社交择偶、健身竞技、表演卖艺等</a:t>
            </a:r>
            <a:r>
              <a:rPr lang="en-US" altLang="zh-CN" sz="2800"/>
              <a:t>);</a:t>
            </a:r>
          </a:p>
          <a:p>
            <a:pPr>
              <a:lnSpc>
                <a:spcPct val="80000"/>
              </a:lnSpc>
            </a:pPr>
            <a:r>
              <a:rPr lang="zh-CN" altLang="en-US" sz="2800" b="1" u="sng"/>
              <a:t>礼仪习俗舞蹈</a:t>
            </a:r>
            <a:r>
              <a:rPr lang="en-US" altLang="zh-CN" sz="2800"/>
              <a:t>(</a:t>
            </a:r>
            <a:r>
              <a:rPr lang="zh-CN" altLang="en-US" sz="2800"/>
              <a:t>如在生育礼、成人礼、婚礼、寿礼、丧礼、祭礼、兵礼等礼仪活动中进行的舞蹈</a:t>
            </a:r>
            <a:r>
              <a:rPr lang="en-US" altLang="zh-CN" sz="2800"/>
              <a:t>;</a:t>
            </a:r>
          </a:p>
          <a:p>
            <a:pPr>
              <a:lnSpc>
                <a:spcPct val="80000"/>
              </a:lnSpc>
            </a:pPr>
            <a:r>
              <a:rPr lang="zh-CN" altLang="en-US" sz="2800" b="1" u="sng"/>
              <a:t>信仰习俗舞蹈</a:t>
            </a:r>
            <a:r>
              <a:rPr lang="en-US" altLang="zh-CN" sz="2800"/>
              <a:t>(</a:t>
            </a:r>
            <a:r>
              <a:rPr lang="zh-CN" altLang="en-US" sz="2800"/>
              <a:t>如在道教、佛教、伊斯兰教、 原始宗教、民间俗信活动中跳的舞蹈</a:t>
            </a:r>
            <a:r>
              <a:rPr lang="en-US" altLang="zh-CN" sz="2800"/>
              <a:t>);</a:t>
            </a:r>
          </a:p>
          <a:p>
            <a:pPr>
              <a:lnSpc>
                <a:spcPct val="80000"/>
              </a:lnSpc>
            </a:pPr>
            <a:r>
              <a:rPr lang="zh-CN" altLang="en-US" sz="2800" b="1" u="sng"/>
              <a:t>劳动习俗舞蹈</a:t>
            </a:r>
            <a:r>
              <a:rPr lang="zh-CN" altLang="en-US" sz="2800" u="sng"/>
              <a: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rrowheads="1"/>
          </p:cNvSpPr>
          <p:nvPr>
            <p:ph type="title"/>
          </p:nvPr>
        </p:nvSpPr>
        <p:spPr/>
        <p:txBody>
          <a:bodyPr/>
          <a:lstStyle/>
          <a:p>
            <a:r>
              <a:rPr lang="zh-CN" altLang="en-US"/>
              <a:t>节令习俗舞蹈</a:t>
            </a:r>
            <a:r>
              <a:rPr lang="en-US" altLang="zh-CN"/>
              <a:t>——</a:t>
            </a:r>
            <a:r>
              <a:rPr lang="zh-CN" altLang="en-US"/>
              <a:t>朝鲜族</a:t>
            </a:r>
            <a:r>
              <a:rPr lang="en-US" altLang="zh-CN"/>
              <a:t>"</a:t>
            </a:r>
            <a:r>
              <a:rPr lang="zh-CN" altLang="en-US"/>
              <a:t>农乐舞</a:t>
            </a:r>
            <a:r>
              <a:rPr lang="en-US" altLang="zh-CN"/>
              <a:t>"</a:t>
            </a:r>
          </a:p>
        </p:txBody>
      </p:sp>
      <p:sp>
        <p:nvSpPr>
          <p:cNvPr id="45063" name="Rectangle 7"/>
          <p:cNvSpPr>
            <a:spLocks noGrp="1" noRot="1" noChangeArrowheads="1"/>
          </p:cNvSpPr>
          <p:nvPr>
            <p:ph type="body" orient="vert" idx="1"/>
          </p:nvPr>
        </p:nvSpPr>
        <p:spPr>
          <a:xfrm>
            <a:off x="5943600" y="1905000"/>
            <a:ext cx="2898775" cy="4194175"/>
          </a:xfrm>
        </p:spPr>
        <p:txBody>
          <a:bodyPr/>
          <a:lstStyle/>
          <a:p>
            <a:r>
              <a:rPr lang="zh-CN" altLang="en-US"/>
              <a:t>舞蹈以</a:t>
            </a:r>
            <a:r>
              <a:rPr lang="en-US" altLang="zh-CN"/>
              <a:t>"</a:t>
            </a:r>
            <a:r>
              <a:rPr lang="zh-CN" altLang="en-US"/>
              <a:t>舞手鼓</a:t>
            </a:r>
            <a:r>
              <a:rPr lang="en-US" altLang="zh-CN"/>
              <a:t>"</a:t>
            </a:r>
            <a:r>
              <a:rPr lang="zh-CN" altLang="en-US"/>
              <a:t>和</a:t>
            </a:r>
            <a:r>
              <a:rPr lang="en-US" altLang="zh-CN"/>
              <a:t>"</a:t>
            </a:r>
            <a:r>
              <a:rPr lang="zh-CN" altLang="en-US"/>
              <a:t>甩象帽</a:t>
            </a:r>
            <a:r>
              <a:rPr lang="en-US" altLang="zh-CN"/>
              <a:t>"</a:t>
            </a:r>
            <a:r>
              <a:rPr lang="zh-CN" altLang="en-US"/>
              <a:t>为其主要特色</a:t>
            </a:r>
          </a:p>
          <a:p>
            <a:r>
              <a:rPr lang="zh-CN" altLang="en-US"/>
              <a:t>舞手鼓者动作丰富，舞姿似骑马射箭，生气勃勃</a:t>
            </a:r>
          </a:p>
        </p:txBody>
      </p:sp>
      <p:pic>
        <p:nvPicPr>
          <p:cNvPr id="45064" name="Picture 8" descr="200809270942398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524000"/>
            <a:ext cx="2141538" cy="4724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rrowheads="1"/>
          </p:cNvSpPr>
          <p:nvPr>
            <p:ph type="title" idx="4294967295"/>
          </p:nvPr>
        </p:nvSpPr>
        <p:spPr>
          <a:xfrm>
            <a:off x="0" y="609600"/>
            <a:ext cx="8540750" cy="1143000"/>
          </a:xfrm>
        </p:spPr>
        <p:txBody>
          <a:bodyPr/>
          <a:lstStyle/>
          <a:p>
            <a:r>
              <a:rPr lang="zh-CN" altLang="en-US"/>
              <a:t>节令习俗舞蹈</a:t>
            </a:r>
            <a:r>
              <a:rPr lang="en-US" altLang="zh-CN"/>
              <a:t>——</a:t>
            </a:r>
            <a:r>
              <a:rPr lang="zh-CN" altLang="en-US"/>
              <a:t>醒狮舞</a:t>
            </a:r>
          </a:p>
        </p:txBody>
      </p:sp>
      <p:sp>
        <p:nvSpPr>
          <p:cNvPr id="46086" name="Rectangle 6"/>
          <p:cNvSpPr>
            <a:spLocks noChangeArrowheads="1"/>
          </p:cNvSpPr>
          <p:nvPr/>
        </p:nvSpPr>
        <p:spPr bwMode="auto">
          <a:xfrm>
            <a:off x="304800" y="1752600"/>
            <a:ext cx="4191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hlink"/>
              </a:buClr>
              <a:buSzPct val="75000"/>
              <a:buFont typeface="Wingdings" pitchFamily="2" charset="2"/>
              <a:buChar char="v"/>
            </a:pPr>
            <a:r>
              <a:rPr lang="zh-CN" altLang="en-US" sz="2800"/>
              <a:t>每逢节日或庆典中舞动</a:t>
            </a:r>
          </a:p>
        </p:txBody>
      </p:sp>
      <p:sp>
        <p:nvSpPr>
          <p:cNvPr id="46087" name="Rectangle 7"/>
          <p:cNvSpPr>
            <a:spLocks noChangeArrowheads="1"/>
          </p:cNvSpPr>
          <p:nvPr/>
        </p:nvSpPr>
        <p:spPr bwMode="auto">
          <a:xfrm>
            <a:off x="4495800" y="1752600"/>
            <a:ext cx="464820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hlink"/>
              </a:buClr>
              <a:buSzPct val="75000"/>
              <a:buFont typeface="Wingdings" pitchFamily="2" charset="2"/>
              <a:buChar char="v"/>
            </a:pPr>
            <a:r>
              <a:rPr lang="zh-CN" altLang="en-US" sz="2800"/>
              <a:t>以喻国泰民安。太平吉祥</a:t>
            </a:r>
          </a:p>
        </p:txBody>
      </p:sp>
      <p:pic>
        <p:nvPicPr>
          <p:cNvPr id="46088" name="Picture 8" descr="200809270942447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895600"/>
            <a:ext cx="3454400" cy="2819400"/>
          </a:xfrm>
          <a:prstGeom prst="rect">
            <a:avLst/>
          </a:prstGeom>
          <a:noFill/>
          <a:extLst>
            <a:ext uri="{909E8E84-426E-40DD-AFC4-6F175D3DCCD1}">
              <a14:hiddenFill xmlns:a14="http://schemas.microsoft.com/office/drawing/2010/main">
                <a:solidFill>
                  <a:srgbClr val="FFFFFF"/>
                </a:solidFill>
              </a14:hiddenFill>
            </a:ext>
          </a:extLst>
        </p:spPr>
      </p:pic>
      <p:pic>
        <p:nvPicPr>
          <p:cNvPr id="46089" name="Picture 9" descr="200511200066_1_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2667000"/>
            <a:ext cx="3657600" cy="3300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rrowheads="1"/>
          </p:cNvSpPr>
          <p:nvPr>
            <p:ph type="title" idx="4294967295"/>
          </p:nvPr>
        </p:nvSpPr>
        <p:spPr>
          <a:xfrm>
            <a:off x="0" y="609600"/>
            <a:ext cx="8540750" cy="1143000"/>
          </a:xfrm>
        </p:spPr>
        <p:txBody>
          <a:bodyPr/>
          <a:lstStyle/>
          <a:p>
            <a:r>
              <a:rPr lang="zh-CN" altLang="en-US"/>
              <a:t>生活习俗舞 </a:t>
            </a:r>
            <a:r>
              <a:rPr lang="en-US" altLang="zh-CN"/>
              <a:t>——</a:t>
            </a:r>
            <a:r>
              <a:rPr lang="zh-CN" altLang="en-US"/>
              <a:t>彝族“阿细跳乐”</a:t>
            </a:r>
          </a:p>
        </p:txBody>
      </p:sp>
      <p:sp>
        <p:nvSpPr>
          <p:cNvPr id="44036" name="Rectangle 4"/>
          <p:cNvSpPr>
            <a:spLocks noChangeArrowheads="1"/>
          </p:cNvSpPr>
          <p:nvPr/>
        </p:nvSpPr>
        <p:spPr bwMode="auto">
          <a:xfrm>
            <a:off x="6324600" y="1981200"/>
            <a:ext cx="21336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lstStyle/>
          <a:p>
            <a:pPr marL="342900" indent="-342900">
              <a:spcBef>
                <a:spcPct val="20000"/>
              </a:spcBef>
              <a:buClr>
                <a:schemeClr val="hlink"/>
              </a:buClr>
              <a:buSzPct val="75000"/>
              <a:buFont typeface="Wingdings" pitchFamily="2" charset="2"/>
              <a:buChar char="v"/>
            </a:pPr>
            <a:r>
              <a:rPr lang="zh-CN" altLang="en-US" sz="3200"/>
              <a:t>舞蹈时，男舞者身背大三弦或吹竹笛边奏边舞，女舞者拍手相迎</a:t>
            </a:r>
          </a:p>
        </p:txBody>
      </p:sp>
      <p:pic>
        <p:nvPicPr>
          <p:cNvPr id="44037" name="Picture 5" descr="2008092709425839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981200"/>
            <a:ext cx="5715000" cy="40528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title" idx="4294967295"/>
          </p:nvPr>
        </p:nvSpPr>
        <p:spPr>
          <a:xfrm>
            <a:off x="0" y="609600"/>
            <a:ext cx="8540750" cy="1143000"/>
          </a:xfrm>
        </p:spPr>
        <p:txBody>
          <a:bodyPr/>
          <a:lstStyle/>
          <a:p>
            <a:r>
              <a:rPr lang="zh-CN" altLang="en-US"/>
              <a:t>生活习俗舞 </a:t>
            </a:r>
            <a:r>
              <a:rPr lang="en-US" altLang="zh-CN"/>
              <a:t>——</a:t>
            </a:r>
            <a:r>
              <a:rPr lang="zh-CN" altLang="en-US"/>
              <a:t>傣族“孔雀舞”</a:t>
            </a:r>
          </a:p>
        </p:txBody>
      </p:sp>
      <p:sp>
        <p:nvSpPr>
          <p:cNvPr id="6148" name="Text Box 4"/>
          <p:cNvSpPr txBox="1">
            <a:spLocks noChangeArrowheads="1"/>
          </p:cNvSpPr>
          <p:nvPr/>
        </p:nvSpPr>
        <p:spPr bwMode="auto">
          <a:xfrm>
            <a:off x="4419600" y="1905000"/>
            <a:ext cx="4343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0000"/>
              </a:spcBef>
            </a:pPr>
            <a:r>
              <a:rPr lang="zh-CN" altLang="en-US" sz="2400">
                <a:latin typeface="Tahoma" pitchFamily="34" charset="0"/>
              </a:rPr>
              <a:t>傣族把孔雀视为吉祥的象征，跳孔雀舞正是为了表达人们对美好生活的歌颂与追求。</a:t>
            </a:r>
          </a:p>
        </p:txBody>
      </p:sp>
      <p:pic>
        <p:nvPicPr>
          <p:cNvPr id="6149" name="Picture 5" descr="20080416181631701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752600"/>
            <a:ext cx="3554413" cy="434340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2b422a09e7596d29e924888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429000"/>
            <a:ext cx="4171950" cy="274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rrowheads="1"/>
          </p:cNvSpPr>
          <p:nvPr>
            <p:ph type="title" idx="4294967295"/>
          </p:nvPr>
        </p:nvSpPr>
        <p:spPr>
          <a:xfrm>
            <a:off x="0" y="609600"/>
            <a:ext cx="8540750" cy="1143000"/>
          </a:xfrm>
        </p:spPr>
        <p:txBody>
          <a:bodyPr/>
          <a:lstStyle/>
          <a:p>
            <a:r>
              <a:rPr lang="zh-CN" altLang="en-US"/>
              <a:t>礼仪习俗舞</a:t>
            </a:r>
            <a:r>
              <a:rPr lang="en-US" altLang="zh-CN"/>
              <a:t>—— </a:t>
            </a:r>
            <a:r>
              <a:rPr lang="zh-CN" altLang="en-US"/>
              <a:t>独龙族</a:t>
            </a:r>
            <a:r>
              <a:rPr lang="en-US" altLang="zh-CN"/>
              <a:t>"</a:t>
            </a:r>
            <a:r>
              <a:rPr lang="zh-CN" altLang="en-US"/>
              <a:t>剽牛舞</a:t>
            </a:r>
            <a:r>
              <a:rPr lang="en-US" altLang="zh-CN"/>
              <a:t>"</a:t>
            </a:r>
          </a:p>
        </p:txBody>
      </p:sp>
      <p:sp>
        <p:nvSpPr>
          <p:cNvPr id="43012" name="Rectangle 4"/>
          <p:cNvSpPr>
            <a:spLocks noChangeArrowheads="1"/>
          </p:cNvSpPr>
          <p:nvPr/>
        </p:nvSpPr>
        <p:spPr bwMode="auto">
          <a:xfrm>
            <a:off x="228600" y="1752600"/>
            <a:ext cx="24384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90000"/>
              </a:lnSpc>
              <a:spcBef>
                <a:spcPct val="20000"/>
              </a:spcBef>
              <a:buClr>
                <a:schemeClr val="hlink"/>
              </a:buClr>
              <a:buSzPct val="75000"/>
              <a:buFont typeface="Wingdings" pitchFamily="2" charset="2"/>
              <a:buChar char="v"/>
            </a:pPr>
            <a:r>
              <a:rPr lang="en-US" altLang="zh-CN" sz="3200"/>
              <a:t>“</a:t>
            </a:r>
            <a:r>
              <a:rPr lang="zh-CN" altLang="en-US" sz="3200"/>
              <a:t>剽牛舞”是雪南独龙族的礼仪习俗舞蹈，在其传统的“剽牛祭天”活动中承袭至今。</a:t>
            </a:r>
          </a:p>
          <a:p>
            <a:pPr marL="342900" indent="-342900">
              <a:lnSpc>
                <a:spcPct val="90000"/>
              </a:lnSpc>
              <a:spcBef>
                <a:spcPct val="20000"/>
              </a:spcBef>
              <a:buClr>
                <a:schemeClr val="hlink"/>
              </a:buClr>
              <a:buSzPct val="75000"/>
              <a:buFont typeface="Wingdings" pitchFamily="2" charset="2"/>
              <a:buChar char="v"/>
            </a:pPr>
            <a:endParaRPr lang="en-US" altLang="zh-CN" sz="3200"/>
          </a:p>
        </p:txBody>
      </p:sp>
      <p:pic>
        <p:nvPicPr>
          <p:cNvPr id="43013" name="Picture 5" descr="36808_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752600"/>
            <a:ext cx="5791200" cy="4333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rrowheads="1"/>
          </p:cNvSpPr>
          <p:nvPr>
            <p:ph type="title" idx="4294967295"/>
          </p:nvPr>
        </p:nvSpPr>
        <p:spPr>
          <a:xfrm>
            <a:off x="0" y="609600"/>
            <a:ext cx="8540750" cy="1143000"/>
          </a:xfrm>
        </p:spPr>
        <p:txBody>
          <a:bodyPr/>
          <a:lstStyle/>
          <a:p>
            <a:r>
              <a:rPr lang="zh-CN" altLang="en-US"/>
              <a:t>礼仪习俗舞</a:t>
            </a:r>
            <a:r>
              <a:rPr lang="en-US" altLang="zh-CN"/>
              <a:t>——</a:t>
            </a:r>
            <a:r>
              <a:rPr lang="zh-CN" altLang="en-US"/>
              <a:t>景颇族“金寨寨”</a:t>
            </a:r>
          </a:p>
        </p:txBody>
      </p:sp>
      <p:sp>
        <p:nvSpPr>
          <p:cNvPr id="41988" name="Rectangle 4"/>
          <p:cNvSpPr>
            <a:spLocks noChangeArrowheads="1"/>
          </p:cNvSpPr>
          <p:nvPr/>
        </p:nvSpPr>
        <p:spPr bwMode="auto">
          <a:xfrm>
            <a:off x="6477000" y="1600200"/>
            <a:ext cx="23622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90000"/>
              </a:lnSpc>
              <a:spcBef>
                <a:spcPct val="20000"/>
              </a:spcBef>
              <a:buClr>
                <a:schemeClr val="hlink"/>
              </a:buClr>
              <a:buSzPct val="75000"/>
              <a:buFont typeface="Wingdings" pitchFamily="2" charset="2"/>
              <a:buChar char="v"/>
            </a:pPr>
            <a:r>
              <a:rPr lang="zh-CN" altLang="en-US" sz="2400"/>
              <a:t>舞者全身赤裸，用野藤树叶编成圆圈套于腰间和头部，有的人将猪尿脬套在头上，眼、鼻、口处留孔。</a:t>
            </a:r>
          </a:p>
          <a:p>
            <a:pPr marL="342900" indent="-342900">
              <a:lnSpc>
                <a:spcPct val="90000"/>
              </a:lnSpc>
              <a:spcBef>
                <a:spcPct val="20000"/>
              </a:spcBef>
              <a:buClr>
                <a:schemeClr val="hlink"/>
              </a:buClr>
              <a:buSzPct val="75000"/>
              <a:buFont typeface="Wingdings" pitchFamily="2" charset="2"/>
              <a:buChar char="v"/>
            </a:pPr>
            <a:r>
              <a:rPr lang="zh-CN" altLang="en-US" sz="2400"/>
              <a:t>身体裸露之处用黑、白色绘满花纹，装扮成雄、雌性飞禽类动物模样。</a:t>
            </a:r>
          </a:p>
          <a:p>
            <a:pPr marL="342900" indent="-342900">
              <a:lnSpc>
                <a:spcPct val="90000"/>
              </a:lnSpc>
              <a:spcBef>
                <a:spcPct val="20000"/>
              </a:spcBef>
              <a:buClr>
                <a:schemeClr val="hlink"/>
              </a:buClr>
              <a:buSzPct val="75000"/>
              <a:buFont typeface="Wingdings" pitchFamily="2" charset="2"/>
              <a:buNone/>
            </a:pPr>
            <a:endParaRPr lang="en-US" altLang="zh-CN" sz="2400"/>
          </a:p>
        </p:txBody>
      </p:sp>
      <p:pic>
        <p:nvPicPr>
          <p:cNvPr id="41989" name="Picture 5" descr="200809270943467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828800"/>
            <a:ext cx="5867400" cy="4400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rrowheads="1"/>
          </p:cNvSpPr>
          <p:nvPr>
            <p:ph type="title" idx="4294967295"/>
          </p:nvPr>
        </p:nvSpPr>
        <p:spPr>
          <a:xfrm>
            <a:off x="0" y="609600"/>
            <a:ext cx="8540750" cy="1143000"/>
          </a:xfrm>
        </p:spPr>
        <p:txBody>
          <a:bodyPr/>
          <a:lstStyle/>
          <a:p>
            <a:r>
              <a:rPr lang="zh-CN" altLang="en-US"/>
              <a:t>信仰习俗舞蹈 </a:t>
            </a:r>
            <a:r>
              <a:rPr lang="en-US" altLang="zh-CN"/>
              <a:t>——</a:t>
            </a:r>
            <a:r>
              <a:rPr lang="zh-CN" altLang="en-US"/>
              <a:t>藏族</a:t>
            </a:r>
            <a:r>
              <a:rPr lang="en-US" altLang="zh-CN"/>
              <a:t>"</a:t>
            </a:r>
            <a:r>
              <a:rPr lang="zh-CN" altLang="en-US"/>
              <a:t>羌姆</a:t>
            </a:r>
            <a:r>
              <a:rPr lang="en-US" altLang="zh-CN"/>
              <a:t>"</a:t>
            </a:r>
          </a:p>
        </p:txBody>
      </p:sp>
      <p:pic>
        <p:nvPicPr>
          <p:cNvPr id="40964" name="Picture 4" descr="200809270944013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600200"/>
            <a:ext cx="3524250" cy="5029200"/>
          </a:xfrm>
          <a:prstGeom prst="rect">
            <a:avLst/>
          </a:prstGeom>
          <a:noFill/>
          <a:extLst>
            <a:ext uri="{909E8E84-426E-40DD-AFC4-6F175D3DCCD1}">
              <a14:hiddenFill xmlns:a14="http://schemas.microsoft.com/office/drawing/2010/main">
                <a:solidFill>
                  <a:srgbClr val="FFFFFF"/>
                </a:solidFill>
              </a14:hiddenFill>
            </a:ext>
          </a:extLst>
        </p:spPr>
      </p:pic>
      <p:sp>
        <p:nvSpPr>
          <p:cNvPr id="40965" name="Rectangle 5"/>
          <p:cNvSpPr>
            <a:spLocks noChangeArrowheads="1"/>
          </p:cNvSpPr>
          <p:nvPr/>
        </p:nvSpPr>
        <p:spPr bwMode="auto">
          <a:xfrm>
            <a:off x="4953000" y="1981200"/>
            <a:ext cx="3886200" cy="445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hlink"/>
              </a:buClr>
              <a:buSzPct val="75000"/>
              <a:buFont typeface="Wingdings" pitchFamily="2" charset="2"/>
              <a:buChar char="v"/>
            </a:pPr>
            <a:r>
              <a:rPr lang="en-US" altLang="zh-CN" sz="2800"/>
              <a:t>"</a:t>
            </a:r>
            <a:r>
              <a:rPr lang="zh-CN" altLang="en-US" sz="2800"/>
              <a:t>羌姆</a:t>
            </a:r>
            <a:r>
              <a:rPr lang="en-US" altLang="zh-CN" sz="2800"/>
              <a:t>"</a:t>
            </a:r>
            <a:r>
              <a:rPr lang="zh-CN" altLang="en-US" sz="2800"/>
              <a:t>是藏传佛教独有的信仰习俗类的宗教专用舞蹈，是藏传佛教各教派僧众在自己寺院范围内表演的一种仪式隆重、场面壮观、气势宏大的集诵经、音乐、舞蹈于一体的表演艺术。</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rrowheads="1"/>
          </p:cNvSpPr>
          <p:nvPr>
            <p:ph type="title"/>
          </p:nvPr>
        </p:nvSpPr>
        <p:spPr>
          <a:xfrm>
            <a:off x="0" y="533400"/>
            <a:ext cx="8540750" cy="1143000"/>
          </a:xfrm>
        </p:spPr>
        <p:txBody>
          <a:bodyPr/>
          <a:lstStyle/>
          <a:p>
            <a:r>
              <a:rPr lang="zh-CN" altLang="en-US"/>
              <a:t>第二部分</a:t>
            </a:r>
            <a:r>
              <a:rPr lang="en-US" altLang="zh-CN"/>
              <a:t>——</a:t>
            </a:r>
            <a:r>
              <a:rPr lang="zh-CN" altLang="en-US"/>
              <a:t>古典舞</a:t>
            </a:r>
            <a:r>
              <a:rPr lang="zh-CN" altLang="en-US" b="1"/>
              <a:t>简介</a:t>
            </a:r>
          </a:p>
        </p:txBody>
      </p:sp>
      <p:sp>
        <p:nvSpPr>
          <p:cNvPr id="37891" name="Rectangle 3"/>
          <p:cNvSpPr>
            <a:spLocks noGrp="1" noRot="1" noChangeArrowheads="1"/>
          </p:cNvSpPr>
          <p:nvPr>
            <p:ph type="body" idx="1"/>
          </p:nvPr>
        </p:nvSpPr>
        <p:spPr>
          <a:xfrm>
            <a:off x="304800" y="1676400"/>
            <a:ext cx="8540750" cy="5181600"/>
          </a:xfrm>
        </p:spPr>
        <p:txBody>
          <a:bodyPr/>
          <a:lstStyle/>
          <a:p>
            <a:r>
              <a:rPr lang="zh-CN" altLang="en-US" b="1"/>
              <a:t>古典舞是建立在</a:t>
            </a:r>
            <a:r>
              <a:rPr lang="zh-CN" altLang="en-US" b="1" u="sng"/>
              <a:t>民族民间传统舞蹈的基础上</a:t>
            </a:r>
            <a:r>
              <a:rPr lang="zh-CN" altLang="en-US" b="1"/>
              <a:t>，并且具有一定典范意义的和古典风格特色的舞蹈。</a:t>
            </a:r>
          </a:p>
          <a:p>
            <a:endParaRPr lang="zh-CN" altLang="en-US" b="1"/>
          </a:p>
          <a:p>
            <a:r>
              <a:rPr lang="zh-CN" altLang="en-US" b="1"/>
              <a:t>它的舞蹈</a:t>
            </a:r>
            <a:r>
              <a:rPr lang="zh-CN" altLang="en-US" b="1" u="sng"/>
              <a:t>动作优美</a:t>
            </a:r>
            <a:r>
              <a:rPr lang="zh-CN" altLang="en-US" b="1"/>
              <a:t>，不仅可以展现</a:t>
            </a:r>
            <a:r>
              <a:rPr lang="zh-CN" altLang="en-US" b="1" u="sng"/>
              <a:t>女性柔美的身段</a:t>
            </a:r>
            <a:r>
              <a:rPr lang="zh-CN" altLang="en-US" b="1"/>
              <a:t>，还可以增强</a:t>
            </a:r>
            <a:r>
              <a:rPr lang="zh-CN" altLang="en-US" b="1" u="sng"/>
              <a:t>肢体协调性</a:t>
            </a:r>
            <a:r>
              <a:rPr lang="zh-CN" altLang="en-US"/>
              <a:t>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3" name="Picture 5" descr="15_2_aa897d39915c0d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685800"/>
            <a:ext cx="3352800" cy="2682875"/>
          </a:xfrm>
          <a:prstGeom prst="rect">
            <a:avLst/>
          </a:prstGeom>
          <a:noFill/>
          <a:extLst>
            <a:ext uri="{909E8E84-426E-40DD-AFC4-6F175D3DCCD1}">
              <a14:hiddenFill xmlns:a14="http://schemas.microsoft.com/office/drawing/2010/main">
                <a:solidFill>
                  <a:srgbClr val="FFFFFF"/>
                </a:solidFill>
              </a14:hiddenFill>
            </a:ext>
          </a:extLst>
        </p:spPr>
      </p:pic>
      <p:pic>
        <p:nvPicPr>
          <p:cNvPr id="124938" name="Picture 10" descr="古典"/>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81000"/>
            <a:ext cx="4762500" cy="6019800"/>
          </a:xfrm>
          <a:prstGeom prst="rect">
            <a:avLst/>
          </a:prstGeom>
          <a:noFill/>
          <a:extLst>
            <a:ext uri="{909E8E84-426E-40DD-AFC4-6F175D3DCCD1}">
              <a14:hiddenFill xmlns:a14="http://schemas.microsoft.com/office/drawing/2010/main">
                <a:solidFill>
                  <a:srgbClr val="FFFFFF"/>
                </a:solidFill>
              </a14:hiddenFill>
            </a:ext>
          </a:extLst>
        </p:spPr>
      </p:pic>
      <p:pic>
        <p:nvPicPr>
          <p:cNvPr id="124940" name="Picture 12" descr="2006713108449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733800"/>
            <a:ext cx="3657600" cy="2190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p:cNvSpPr>
            <a:spLocks noGrp="1" noRot="1" noChangeArrowheads="1"/>
          </p:cNvSpPr>
          <p:nvPr>
            <p:ph type="body" idx="1"/>
          </p:nvPr>
        </p:nvSpPr>
        <p:spPr>
          <a:xfrm>
            <a:off x="301625" y="533400"/>
            <a:ext cx="8540750" cy="5565775"/>
          </a:xfrm>
        </p:spPr>
        <p:txBody>
          <a:bodyPr/>
          <a:lstStyle/>
          <a:p>
            <a:r>
              <a:rPr lang="zh-CN" altLang="en-US" b="1"/>
              <a:t>世界许多民族都有各具特色的古典舞蹈。</a:t>
            </a:r>
          </a:p>
          <a:p>
            <a:r>
              <a:rPr lang="zh-CN" altLang="en-US"/>
              <a:t> </a:t>
            </a:r>
            <a:endParaRPr lang="zh-CN" altLang="en-US" b="1"/>
          </a:p>
          <a:p>
            <a:r>
              <a:rPr lang="zh-CN" altLang="en-US" b="1"/>
              <a:t>中国是世界文明古国之一，灿烂的古代文明中，当然包含了丰富多彩的古典舞蹈。</a:t>
            </a:r>
            <a:r>
              <a:rPr lang="zh-CN" altLang="en-US"/>
              <a:t> </a:t>
            </a:r>
          </a:p>
          <a:p>
            <a:endParaRPr lang="zh-CN" altLang="en-US"/>
          </a:p>
          <a:p>
            <a:r>
              <a:rPr lang="zh-CN" altLang="en-US" b="1"/>
              <a:t>春秋战国时期貌美舞艳的</a:t>
            </a:r>
            <a:r>
              <a:rPr lang="zh-CN" altLang="en-US" b="1" u="sng"/>
              <a:t>西施</a:t>
            </a:r>
            <a:r>
              <a:rPr lang="zh-CN" altLang="en-US" b="1"/>
              <a:t>，汉代善做翘袖折腰之舞的</a:t>
            </a:r>
            <a:r>
              <a:rPr lang="zh-CN" altLang="en-US" b="1" u="sng"/>
              <a:t>戚夫人</a:t>
            </a:r>
            <a:r>
              <a:rPr lang="zh-CN" altLang="en-US" b="1"/>
              <a:t>，身轻如燕能做掌上舞的</a:t>
            </a:r>
            <a:r>
              <a:rPr lang="zh-CN" altLang="en-US" b="1" u="sng"/>
              <a:t>赵飞燕</a:t>
            </a:r>
            <a:r>
              <a:rPr lang="zh-CN" altLang="en-US" b="1"/>
              <a:t>。</a:t>
            </a:r>
            <a:r>
              <a:rPr lang="zh-CN" altLang="en-US"/>
              <a:t>这些古代的著名舞蹈家和数以百计未留下姓名的舞者，为中国古典舞技艺的提高和风格的形成奠定了基础。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11" name="Picture 7" descr="bb70e6cc0972b90a00e928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305800" cy="4097338"/>
          </a:xfrm>
          <a:prstGeom prst="rect">
            <a:avLst/>
          </a:prstGeom>
          <a:noFill/>
          <a:extLst>
            <a:ext uri="{909E8E84-426E-40DD-AFC4-6F175D3DCCD1}">
              <a14:hiddenFill xmlns:a14="http://schemas.microsoft.com/office/drawing/2010/main">
                <a:solidFill>
                  <a:srgbClr val="FFFFFF"/>
                </a:solidFill>
              </a14:hiddenFill>
            </a:ext>
          </a:extLst>
        </p:spPr>
      </p:pic>
      <p:sp>
        <p:nvSpPr>
          <p:cNvPr id="123912" name="Rectangle 8"/>
          <p:cNvSpPr>
            <a:spLocks noGrp="1" noRot="1" noChangeArrowheads="1"/>
          </p:cNvSpPr>
          <p:nvPr>
            <p:ph type="title"/>
          </p:nvPr>
        </p:nvSpPr>
        <p:spPr/>
        <p:txBody>
          <a:bodyPr/>
          <a:lstStyle/>
          <a:p>
            <a:r>
              <a:rPr lang="zh-CN" altLang="en-US"/>
              <a:t>一舞倾城</a:t>
            </a:r>
            <a:r>
              <a:rPr lang="en-US" altLang="zh-CN"/>
              <a:t>——</a:t>
            </a:r>
            <a:r>
              <a:rPr lang="zh-CN" altLang="en-US"/>
              <a:t>西施</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12" name="Rectangle 12"/>
          <p:cNvSpPr>
            <a:spLocks noGrp="1" noRot="1" noChangeArrowheads="1"/>
          </p:cNvSpPr>
          <p:nvPr>
            <p:ph type="body" orient="vert" idx="1"/>
          </p:nvPr>
        </p:nvSpPr>
        <p:spPr>
          <a:xfrm>
            <a:off x="7315200" y="762000"/>
            <a:ext cx="914400" cy="5489575"/>
          </a:xfrm>
        </p:spPr>
        <p:txBody>
          <a:bodyPr/>
          <a:lstStyle/>
          <a:p>
            <a:r>
              <a:rPr lang="zh-CN" altLang="en-US" sz="4400" b="1"/>
              <a:t>折腰之舞的戚夫人</a:t>
            </a:r>
          </a:p>
        </p:txBody>
      </p:sp>
      <p:pic>
        <p:nvPicPr>
          <p:cNvPr id="128005" name="Picture 5" descr="img2007033000304802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685800"/>
            <a:ext cx="5562600" cy="5507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105" name="Picture 9" descr="21_172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457200"/>
            <a:ext cx="3916363" cy="6019800"/>
          </a:xfrm>
          <a:prstGeom prst="rect">
            <a:avLst/>
          </a:prstGeom>
          <a:noFill/>
          <a:extLst>
            <a:ext uri="{909E8E84-426E-40DD-AFC4-6F175D3DCCD1}">
              <a14:hiddenFill xmlns:a14="http://schemas.microsoft.com/office/drawing/2010/main">
                <a:solidFill>
                  <a:srgbClr val="FFFFFF"/>
                </a:solidFill>
              </a14:hiddenFill>
            </a:ext>
          </a:extLst>
        </p:spPr>
      </p:pic>
      <p:pic>
        <p:nvPicPr>
          <p:cNvPr id="132111" name="Picture 15" descr="1271fff79bea6a3b730eec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533400"/>
            <a:ext cx="3714750" cy="3952875"/>
          </a:xfrm>
          <a:prstGeom prst="rect">
            <a:avLst/>
          </a:prstGeom>
          <a:noFill/>
          <a:extLst>
            <a:ext uri="{909E8E84-426E-40DD-AFC4-6F175D3DCCD1}">
              <a14:hiddenFill xmlns:a14="http://schemas.microsoft.com/office/drawing/2010/main">
                <a:solidFill>
                  <a:srgbClr val="FFFFFF"/>
                </a:solidFill>
              </a14:hiddenFill>
            </a:ext>
          </a:extLst>
        </p:spPr>
      </p:pic>
      <p:sp>
        <p:nvSpPr>
          <p:cNvPr id="132113" name="Rectangle 17"/>
          <p:cNvSpPr>
            <a:spLocks noGrp="1" noRot="1" noChangeArrowheads="1"/>
          </p:cNvSpPr>
          <p:nvPr>
            <p:ph type="body" sz="half" idx="1"/>
          </p:nvPr>
        </p:nvSpPr>
        <p:spPr>
          <a:xfrm>
            <a:off x="301625" y="4648200"/>
            <a:ext cx="4117975" cy="1524000"/>
          </a:xfrm>
        </p:spPr>
        <p:txBody>
          <a:bodyPr/>
          <a:lstStyle/>
          <a:p>
            <a:r>
              <a:rPr lang="zh-CN" altLang="en-US" sz="4000" b="1"/>
              <a:t>身轻如燕</a:t>
            </a:r>
            <a:r>
              <a:rPr lang="en-US" altLang="zh-CN" sz="4000" b="1"/>
              <a:t>——</a:t>
            </a:r>
            <a:r>
              <a:rPr lang="zh-CN" altLang="en-US" sz="4000" b="1"/>
              <a:t>赵飞燕</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p:cNvSpPr>
            <a:spLocks noGrp="1" noRot="1" noChangeArrowheads="1"/>
          </p:cNvSpPr>
          <p:nvPr>
            <p:ph type="body" idx="4294967295"/>
          </p:nvPr>
        </p:nvSpPr>
        <p:spPr>
          <a:xfrm>
            <a:off x="0" y="914400"/>
            <a:ext cx="8540750" cy="5184775"/>
          </a:xfrm>
        </p:spPr>
        <p:txBody>
          <a:bodyPr/>
          <a:lstStyle/>
          <a:p>
            <a:r>
              <a:rPr lang="zh-CN" altLang="en-US" b="1"/>
              <a:t>敦煌壁画中描绘了唐代舞蹈的各种优美造型，如“</a:t>
            </a:r>
            <a:r>
              <a:rPr lang="zh-CN" altLang="en-US" b="1" u="sng"/>
              <a:t>飞天</a:t>
            </a:r>
            <a:r>
              <a:rPr lang="zh-CN" altLang="en-US" b="1"/>
              <a:t>”“</a:t>
            </a:r>
            <a:r>
              <a:rPr lang="zh-CN" altLang="en-US" b="1" u="sng"/>
              <a:t>反弹琵琶</a:t>
            </a:r>
            <a:r>
              <a:rPr lang="zh-CN" altLang="en-US" b="1"/>
              <a:t>”等</a:t>
            </a:r>
            <a:r>
              <a:rPr lang="zh-CN" altLang="en-US"/>
              <a:t> </a:t>
            </a:r>
          </a:p>
          <a:p>
            <a:endParaRPr lang="zh-CN" altLang="en-US"/>
          </a:p>
          <a:p>
            <a:r>
              <a:rPr lang="zh-CN" altLang="en-US" b="1"/>
              <a:t>唐诗中还有大量关于舞蹈的描写。如杜甫的</a:t>
            </a:r>
            <a:r>
              <a:rPr lang="en-US" altLang="zh-CN" b="1"/>
              <a:t>《</a:t>
            </a:r>
            <a:r>
              <a:rPr lang="zh-CN" altLang="en-US" b="1" u="sng"/>
              <a:t>观公孙大娘弟子舞剑器行</a:t>
            </a:r>
            <a:r>
              <a:rPr lang="en-US" altLang="zh-CN" b="1"/>
              <a:t>》</a:t>
            </a:r>
            <a:r>
              <a:rPr lang="zh-CN" altLang="en-US" b="1"/>
              <a:t>，白居易的</a:t>
            </a:r>
            <a:r>
              <a:rPr lang="en-US" altLang="zh-CN" b="1"/>
              <a:t>《</a:t>
            </a:r>
            <a:r>
              <a:rPr lang="zh-CN" altLang="en-US" b="1" u="sng"/>
              <a:t>霓裳羽衣舞歌和微之</a:t>
            </a:r>
            <a:r>
              <a:rPr lang="en-US" altLang="zh-CN" b="1"/>
              <a:t>》</a:t>
            </a:r>
            <a:r>
              <a:rPr lang="zh-CN" altLang="en-US" b="1"/>
              <a:t>，分别介绍了最著名的舞蹈家公孙大娘和最著名的古典舞</a:t>
            </a:r>
            <a:r>
              <a:rPr lang="en-US" altLang="zh-CN" b="1"/>
              <a:t>《</a:t>
            </a:r>
            <a:r>
              <a:rPr lang="zh-CN" altLang="en-US" b="1" u="sng"/>
              <a:t>霓裳羽衣舞</a:t>
            </a:r>
            <a:r>
              <a:rPr lang="en-US" altLang="zh-CN" b="1"/>
              <a:t>》</a:t>
            </a:r>
            <a:r>
              <a:rPr lang="zh-CN" altLang="en-US"/>
              <a:t>。 </a:t>
            </a:r>
          </a:p>
          <a:p>
            <a:endParaRPr lang="en-US" altLang="zh-CN"/>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72" name="Rectangle 8"/>
          <p:cNvSpPr>
            <a:spLocks noGrp="1" noRot="1" noChangeArrowheads="1"/>
          </p:cNvSpPr>
          <p:nvPr>
            <p:ph type="title"/>
          </p:nvPr>
        </p:nvSpPr>
        <p:spPr/>
        <p:txBody>
          <a:bodyPr/>
          <a:lstStyle/>
          <a:p>
            <a:r>
              <a:rPr lang="zh-CN" altLang="en-US" sz="3600" b="1"/>
              <a:t>敦煌壁画</a:t>
            </a:r>
            <a:r>
              <a:rPr lang="en-US" altLang="zh-CN" sz="3600" b="1"/>
              <a:t>——</a:t>
            </a:r>
            <a:r>
              <a:rPr lang="zh-CN" altLang="en-US" sz="3600" b="1"/>
              <a:t>反弹 琵 琶</a:t>
            </a:r>
          </a:p>
        </p:txBody>
      </p:sp>
      <p:sp>
        <p:nvSpPr>
          <p:cNvPr id="139275" name="Rectangle 11"/>
          <p:cNvSpPr>
            <a:spLocks noGrp="1" noRot="1" noChangeArrowheads="1"/>
          </p:cNvSpPr>
          <p:nvPr>
            <p:ph type="body" orient="vert" idx="1"/>
          </p:nvPr>
        </p:nvSpPr>
        <p:spPr>
          <a:xfrm>
            <a:off x="5257800" y="1905000"/>
            <a:ext cx="3584575" cy="4194175"/>
          </a:xfrm>
        </p:spPr>
        <p:txBody>
          <a:bodyPr/>
          <a:lstStyle/>
          <a:p>
            <a:r>
              <a:rPr lang="zh-CN" altLang="en-US"/>
              <a:t>　反弹琵琶是敦煌艺术中最优美的舞姿。</a:t>
            </a:r>
          </a:p>
          <a:p>
            <a:r>
              <a:rPr lang="zh-CN" altLang="en-US"/>
              <a:t>它劲健而舒展，迅疾而和谐，反弹琵琶实际上是又奏乐又跳舞。</a:t>
            </a:r>
          </a:p>
        </p:txBody>
      </p:sp>
      <p:pic>
        <p:nvPicPr>
          <p:cNvPr id="139269" name="Picture 5" descr="mzhx-43"/>
          <p:cNvPicPr>
            <a:picLocks noChangeAspect="1" noChangeArrowheads="1"/>
          </p:cNvPicPr>
          <p:nvPr/>
        </p:nvPicPr>
        <p:blipFill>
          <a:blip r:embed="rId3">
            <a:extLst>
              <a:ext uri="{28A0092B-C50C-407E-A947-70E740481C1C}">
                <a14:useLocalDpi xmlns:a14="http://schemas.microsoft.com/office/drawing/2010/main" val="0"/>
              </a:ext>
            </a:extLst>
          </a:blip>
          <a:srcRect l="12350" t="10127" r="10806" b="16455"/>
          <a:stretch>
            <a:fillRect/>
          </a:stretch>
        </p:blipFill>
        <p:spPr bwMode="auto">
          <a:xfrm>
            <a:off x="457200" y="1828800"/>
            <a:ext cx="4495800" cy="4495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rrowheads="1"/>
          </p:cNvSpPr>
          <p:nvPr>
            <p:ph type="title"/>
          </p:nvPr>
        </p:nvSpPr>
        <p:spPr>
          <a:xfrm>
            <a:off x="301625" y="609600"/>
            <a:ext cx="4346575" cy="1143000"/>
          </a:xfrm>
        </p:spPr>
        <p:txBody>
          <a:bodyPr/>
          <a:lstStyle/>
          <a:p>
            <a:r>
              <a:rPr lang="zh-CN" altLang="en-US"/>
              <a:t>飞天</a:t>
            </a:r>
            <a:r>
              <a:rPr lang="en-US" altLang="zh-CN"/>
              <a:t>——</a:t>
            </a:r>
            <a:r>
              <a:rPr lang="zh-CN" altLang="en-US"/>
              <a:t>古典舞</a:t>
            </a:r>
          </a:p>
        </p:txBody>
      </p:sp>
      <p:pic>
        <p:nvPicPr>
          <p:cNvPr id="118789" name="Picture 5" descr="thumbnail_400_4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28800"/>
            <a:ext cx="3417888" cy="4572000"/>
          </a:xfrm>
          <a:prstGeom prst="rect">
            <a:avLst/>
          </a:prstGeom>
          <a:noFill/>
          <a:extLst>
            <a:ext uri="{909E8E84-426E-40DD-AFC4-6F175D3DCCD1}">
              <a14:hiddenFill xmlns:a14="http://schemas.microsoft.com/office/drawing/2010/main">
                <a:solidFill>
                  <a:srgbClr val="FFFFFF"/>
                </a:solidFill>
              </a14:hiddenFill>
            </a:ext>
          </a:extLst>
        </p:spPr>
      </p:pic>
      <p:pic>
        <p:nvPicPr>
          <p:cNvPr id="118793" name="Picture 9" descr="2008131140400"/>
          <p:cNvPicPr>
            <a:picLocks noChangeAspect="1" noChangeArrowheads="1"/>
          </p:cNvPicPr>
          <p:nvPr/>
        </p:nvPicPr>
        <p:blipFill>
          <a:blip r:embed="rId4">
            <a:extLst>
              <a:ext uri="{28A0092B-C50C-407E-A947-70E740481C1C}">
                <a14:useLocalDpi xmlns:a14="http://schemas.microsoft.com/office/drawing/2010/main" val="0"/>
              </a:ext>
            </a:extLst>
          </a:blip>
          <a:srcRect l="23000" r="30000"/>
          <a:stretch>
            <a:fillRect/>
          </a:stretch>
        </p:blipFill>
        <p:spPr bwMode="auto">
          <a:xfrm>
            <a:off x="5029200" y="533400"/>
            <a:ext cx="3581400" cy="5715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rrowheads="1"/>
          </p:cNvSpPr>
          <p:nvPr>
            <p:ph type="title" idx="4294967295"/>
          </p:nvPr>
        </p:nvSpPr>
        <p:spPr>
          <a:xfrm>
            <a:off x="5029200" y="609600"/>
            <a:ext cx="3505200" cy="5257800"/>
          </a:xfrm>
        </p:spPr>
        <p:txBody>
          <a:bodyPr/>
          <a:lstStyle/>
          <a:p>
            <a:r>
              <a:rPr lang="zh-CN" altLang="en-US"/>
              <a:t>来如雷霆收震怒，罢如江海凝清光 </a:t>
            </a:r>
            <a:r>
              <a:rPr lang="en-US" altLang="zh-CN"/>
              <a:t>————《</a:t>
            </a:r>
            <a:r>
              <a:rPr lang="zh-CN" altLang="en-US"/>
              <a:t>观公孙大娘弟子舞剑器行</a:t>
            </a:r>
            <a:r>
              <a:rPr lang="en-US" altLang="zh-CN"/>
              <a:t>》</a:t>
            </a:r>
            <a:r>
              <a:rPr lang="zh-CN" altLang="en-US"/>
              <a:t>杜甫</a:t>
            </a:r>
          </a:p>
        </p:txBody>
      </p:sp>
      <p:pic>
        <p:nvPicPr>
          <p:cNvPr id="121861" name="Picture 5" descr="20070613_d849832498edc498847fIcABc3iNVJpU">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l="3703" t="2469" r="29630" b="9877"/>
          <a:stretch>
            <a:fillRect/>
          </a:stretch>
        </p:blipFill>
        <p:spPr bwMode="auto">
          <a:xfrm>
            <a:off x="381000" y="228600"/>
            <a:ext cx="4114800" cy="6248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3"/>
          <p:cNvSpPr>
            <a:spLocks noGrp="1" noRot="1" noChangeArrowheads="1"/>
          </p:cNvSpPr>
          <p:nvPr>
            <p:ph type="body" idx="4294967295"/>
          </p:nvPr>
        </p:nvSpPr>
        <p:spPr>
          <a:xfrm>
            <a:off x="0" y="914400"/>
            <a:ext cx="8540750" cy="5184775"/>
          </a:xfrm>
        </p:spPr>
        <p:txBody>
          <a:bodyPr/>
          <a:lstStyle/>
          <a:p>
            <a:r>
              <a:rPr lang="zh-CN" altLang="en-US" b="1"/>
              <a:t>建国后，经过舞蹈、音乐、文物工作者的共同努力，从大量文献、文物、美术作品和老艺人世代相传的技艺中，考证、挖掘、整理、创作了一批优秀的古典舞。</a:t>
            </a:r>
          </a:p>
          <a:p>
            <a:r>
              <a:rPr lang="zh-CN" altLang="en-US" b="1"/>
              <a:t>如</a:t>
            </a:r>
            <a:r>
              <a:rPr lang="en-US" altLang="zh-CN" b="1"/>
              <a:t>《</a:t>
            </a:r>
            <a:r>
              <a:rPr lang="zh-CN" altLang="en-US" b="1"/>
              <a:t>编钟乐舞</a:t>
            </a:r>
            <a:r>
              <a:rPr lang="en-US" altLang="zh-CN" b="1"/>
              <a:t>》</a:t>
            </a:r>
            <a:r>
              <a:rPr lang="zh-CN" altLang="en-US" b="1"/>
              <a:t>、</a:t>
            </a:r>
            <a:r>
              <a:rPr lang="en-US" altLang="zh-CN" b="1"/>
              <a:t>《</a:t>
            </a:r>
            <a:r>
              <a:rPr lang="zh-CN" altLang="en-US" b="1"/>
              <a:t>祭孔乐舞</a:t>
            </a:r>
            <a:r>
              <a:rPr lang="en-US" altLang="zh-CN" b="1"/>
              <a:t>》</a:t>
            </a:r>
            <a:r>
              <a:rPr lang="zh-CN" altLang="en-US" b="1"/>
              <a:t>、</a:t>
            </a:r>
            <a:r>
              <a:rPr lang="en-US" altLang="zh-CN" b="1"/>
              <a:t>《</a:t>
            </a:r>
            <a:r>
              <a:rPr lang="zh-CN" altLang="en-US" b="1"/>
              <a:t>九歌儿也铜雀伎</a:t>
            </a:r>
            <a:r>
              <a:rPr lang="en-US" altLang="zh-CN" b="1"/>
              <a:t>》</a:t>
            </a:r>
            <a:r>
              <a:rPr lang="zh-CN" altLang="en-US" b="1"/>
              <a:t>、</a:t>
            </a:r>
            <a:r>
              <a:rPr lang="en-US" altLang="zh-CN" b="1"/>
              <a:t>《</a:t>
            </a:r>
            <a:r>
              <a:rPr lang="zh-CN" altLang="en-US" b="1"/>
              <a:t>仿唐乐舞</a:t>
            </a:r>
            <a:r>
              <a:rPr lang="en-US" altLang="zh-CN" b="1"/>
              <a:t>》</a:t>
            </a:r>
            <a:r>
              <a:rPr lang="zh-CN" altLang="en-US" b="1"/>
              <a:t>、</a:t>
            </a:r>
            <a:r>
              <a:rPr lang="en-US" altLang="zh-CN" b="1"/>
              <a:t>《</a:t>
            </a:r>
            <a:r>
              <a:rPr lang="zh-CN" altLang="en-US" b="1"/>
              <a:t>长安乐舞</a:t>
            </a:r>
            <a:r>
              <a:rPr lang="en-US" altLang="zh-CN" b="1"/>
              <a:t>》</a:t>
            </a:r>
            <a:r>
              <a:rPr lang="zh-CN" altLang="en-US" b="1"/>
              <a:t>、</a:t>
            </a:r>
            <a:r>
              <a:rPr lang="en-US" altLang="zh-CN" b="1"/>
              <a:t>《</a:t>
            </a:r>
            <a:r>
              <a:rPr lang="zh-CN" altLang="en-US" b="1"/>
              <a:t>敦煌乐舞</a:t>
            </a:r>
            <a:r>
              <a:rPr lang="en-US" altLang="zh-CN" b="1"/>
              <a:t>》</a:t>
            </a:r>
            <a:r>
              <a:rPr lang="zh-CN" altLang="en-US" b="1"/>
              <a:t>、</a:t>
            </a:r>
            <a:r>
              <a:rPr lang="en-US" altLang="zh-CN" b="1"/>
              <a:t>《</a:t>
            </a:r>
            <a:r>
              <a:rPr lang="zh-CN" altLang="en-US" b="1"/>
              <a:t>大梦敦煌</a:t>
            </a:r>
            <a:r>
              <a:rPr lang="en-US" altLang="zh-CN" b="1"/>
              <a:t>》</a:t>
            </a:r>
            <a:r>
              <a:rPr lang="zh-CN" altLang="en-US" b="1"/>
              <a:t>、</a:t>
            </a:r>
            <a:r>
              <a:rPr lang="en-US" altLang="zh-CN" b="1"/>
              <a:t>《</a:t>
            </a:r>
            <a:r>
              <a:rPr lang="zh-CN" altLang="en-US" b="1"/>
              <a:t>清宫乐舞</a:t>
            </a:r>
            <a:r>
              <a:rPr lang="en-US" altLang="zh-CN" b="1"/>
              <a:t>——</a:t>
            </a:r>
            <a:r>
              <a:rPr lang="zh-CN" altLang="en-US" b="1"/>
              <a:t>盛世行</a:t>
            </a:r>
            <a:r>
              <a:rPr lang="en-US" altLang="zh-CN" b="1"/>
              <a:t>》</a:t>
            </a:r>
            <a:r>
              <a:rPr lang="zh-CN" altLang="en-US" b="1"/>
              <a:t>等。表现敦煌文化的民族舞剧</a:t>
            </a:r>
            <a:r>
              <a:rPr lang="en-US" altLang="zh-CN" b="1"/>
              <a:t>《</a:t>
            </a:r>
            <a:r>
              <a:rPr lang="zh-CN" altLang="en-US" b="1"/>
              <a:t>丝路花雨</a:t>
            </a:r>
            <a:r>
              <a:rPr lang="en-US" altLang="zh-CN" b="1"/>
              <a:t>》</a:t>
            </a:r>
            <a:r>
              <a:rPr lang="zh-CN" altLang="en-US" b="1"/>
              <a:t>更成为集中展示中国古典舞魅力的经典之作。</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rrowheads="1"/>
          </p:cNvSpPr>
          <p:nvPr>
            <p:ph type="title"/>
          </p:nvPr>
        </p:nvSpPr>
        <p:spPr/>
        <p:txBody>
          <a:bodyPr/>
          <a:lstStyle/>
          <a:p>
            <a:r>
              <a:rPr lang="zh-CN" altLang="en-US" b="1"/>
              <a:t>编钟乐舞</a:t>
            </a:r>
          </a:p>
        </p:txBody>
      </p:sp>
      <p:pic>
        <p:nvPicPr>
          <p:cNvPr id="119813" name="Picture 5" descr="200771811231823_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676400"/>
            <a:ext cx="8077200" cy="48942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rrowheads="1"/>
          </p:cNvSpPr>
          <p:nvPr>
            <p:ph type="title"/>
          </p:nvPr>
        </p:nvSpPr>
        <p:spPr>
          <a:xfrm>
            <a:off x="533400" y="457200"/>
            <a:ext cx="7927975" cy="1295400"/>
          </a:xfrm>
        </p:spPr>
        <p:txBody>
          <a:bodyPr/>
          <a:lstStyle/>
          <a:p>
            <a:r>
              <a:rPr lang="zh-CN" altLang="en-US"/>
              <a:t>祭孔乐舞</a:t>
            </a:r>
          </a:p>
        </p:txBody>
      </p:sp>
      <p:sp>
        <p:nvSpPr>
          <p:cNvPr id="29699" name="Rectangle 3"/>
          <p:cNvSpPr>
            <a:spLocks noGrp="1" noRot="1" noChangeArrowheads="1"/>
          </p:cNvSpPr>
          <p:nvPr>
            <p:ph type="body" idx="1"/>
          </p:nvPr>
        </p:nvSpPr>
        <p:spPr>
          <a:xfrm>
            <a:off x="304800" y="2209800"/>
            <a:ext cx="8540750" cy="4194175"/>
          </a:xfrm>
        </p:spPr>
        <p:txBody>
          <a:bodyPr/>
          <a:lstStyle/>
          <a:p>
            <a:endParaRPr lang="zh-CN" altLang="zh-CN"/>
          </a:p>
        </p:txBody>
      </p:sp>
      <p:pic>
        <p:nvPicPr>
          <p:cNvPr id="29701" name="Picture 5" descr="2008749339"/>
          <p:cNvPicPr>
            <a:picLocks noChangeAspect="1" noChangeArrowheads="1"/>
          </p:cNvPicPr>
          <p:nvPr/>
        </p:nvPicPr>
        <p:blipFill>
          <a:blip r:embed="rId3">
            <a:extLst>
              <a:ext uri="{28A0092B-C50C-407E-A947-70E740481C1C}">
                <a14:useLocalDpi xmlns:a14="http://schemas.microsoft.com/office/drawing/2010/main" val="0"/>
              </a:ext>
            </a:extLst>
          </a:blip>
          <a:srcRect t="23563"/>
          <a:stretch>
            <a:fillRect/>
          </a:stretch>
        </p:blipFill>
        <p:spPr bwMode="auto">
          <a:xfrm>
            <a:off x="304800" y="1905000"/>
            <a:ext cx="8610600" cy="44370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Rot="1" noChangeArrowheads="1"/>
          </p:cNvSpPr>
          <p:nvPr>
            <p:ph type="title"/>
          </p:nvPr>
        </p:nvSpPr>
        <p:spPr/>
        <p:txBody>
          <a:bodyPr/>
          <a:lstStyle/>
          <a:p>
            <a:r>
              <a:rPr lang="zh-CN" altLang="en-US" b="1"/>
              <a:t>仿唐乐舞</a:t>
            </a:r>
          </a:p>
        </p:txBody>
      </p:sp>
      <p:pic>
        <p:nvPicPr>
          <p:cNvPr id="144389" name="Picture 5" descr="20081017132155">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981200"/>
            <a:ext cx="7924800" cy="4584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rrowheads="1"/>
          </p:cNvSpPr>
          <p:nvPr>
            <p:ph type="title"/>
          </p:nvPr>
        </p:nvSpPr>
        <p:spPr/>
        <p:txBody>
          <a:bodyPr/>
          <a:lstStyle/>
          <a:p>
            <a:r>
              <a:rPr lang="zh-CN" altLang="en-US" b="1"/>
              <a:t>铜雀伎</a:t>
            </a:r>
          </a:p>
        </p:txBody>
      </p:sp>
      <p:sp>
        <p:nvSpPr>
          <p:cNvPr id="143363" name="Rectangle 3"/>
          <p:cNvSpPr>
            <a:spLocks noGrp="1" noRot="1" noChangeArrowheads="1"/>
          </p:cNvSpPr>
          <p:nvPr>
            <p:ph type="body" idx="1"/>
          </p:nvPr>
        </p:nvSpPr>
        <p:spPr/>
        <p:txBody>
          <a:bodyPr/>
          <a:lstStyle/>
          <a:p>
            <a:endParaRPr lang="zh-CN" altLang="zh-CN"/>
          </a:p>
        </p:txBody>
      </p:sp>
      <p:pic>
        <p:nvPicPr>
          <p:cNvPr id="143365" name="Picture 5" descr="16-3">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600200"/>
            <a:ext cx="8534400" cy="4984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rrowheads="1"/>
          </p:cNvSpPr>
          <p:nvPr>
            <p:ph type="title" orient="vert"/>
          </p:nvPr>
        </p:nvSpPr>
        <p:spPr>
          <a:xfrm>
            <a:off x="7543800" y="609600"/>
            <a:ext cx="1298575" cy="5489575"/>
          </a:xfrm>
        </p:spPr>
        <p:txBody>
          <a:bodyPr/>
          <a:lstStyle/>
          <a:p>
            <a:r>
              <a:rPr lang="zh-CN" altLang="en-US" b="1"/>
              <a:t>长安乐舞</a:t>
            </a:r>
          </a:p>
        </p:txBody>
      </p:sp>
      <p:sp>
        <p:nvSpPr>
          <p:cNvPr id="145415" name="Rectangle 7"/>
          <p:cNvSpPr>
            <a:spLocks noGrp="1" noRot="1" noChangeArrowheads="1"/>
          </p:cNvSpPr>
          <p:nvPr>
            <p:ph type="body" orient="vert" idx="1"/>
          </p:nvPr>
        </p:nvSpPr>
        <p:spPr/>
        <p:txBody>
          <a:bodyPr/>
          <a:lstStyle/>
          <a:p>
            <a:endParaRPr lang="zh-CN" altLang="zh-CN"/>
          </a:p>
        </p:txBody>
      </p:sp>
      <p:pic>
        <p:nvPicPr>
          <p:cNvPr id="145413" name="Picture 5" descr="370">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609600"/>
            <a:ext cx="6934200" cy="5556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8" name="Rectangle 8"/>
          <p:cNvSpPr>
            <a:spLocks noGrp="1" noRot="1" noChangeArrowheads="1"/>
          </p:cNvSpPr>
          <p:nvPr>
            <p:ph type="title" orient="vert"/>
          </p:nvPr>
        </p:nvSpPr>
        <p:spPr>
          <a:xfrm>
            <a:off x="0" y="685800"/>
            <a:ext cx="1447800" cy="5489575"/>
          </a:xfrm>
        </p:spPr>
        <p:txBody>
          <a:bodyPr/>
          <a:lstStyle/>
          <a:p>
            <a:r>
              <a:rPr lang="zh-CN" altLang="en-US" b="1"/>
              <a:t>清宫乐舞</a:t>
            </a:r>
          </a:p>
        </p:txBody>
      </p:sp>
      <p:pic>
        <p:nvPicPr>
          <p:cNvPr id="148485" name="Picture 5" descr="200801070916094b">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838200"/>
            <a:ext cx="7315200" cy="5334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rrowheads="1"/>
          </p:cNvSpPr>
          <p:nvPr>
            <p:ph type="title"/>
          </p:nvPr>
        </p:nvSpPr>
        <p:spPr>
          <a:xfrm>
            <a:off x="304800" y="304800"/>
            <a:ext cx="8540750" cy="1143000"/>
          </a:xfrm>
        </p:spPr>
        <p:txBody>
          <a:bodyPr/>
          <a:lstStyle/>
          <a:p>
            <a:r>
              <a:rPr lang="zh-CN" altLang="en-US"/>
              <a:t>中国舞剧之最</a:t>
            </a:r>
            <a:r>
              <a:rPr lang="en-US" altLang="zh-CN"/>
              <a:t>——</a:t>
            </a:r>
            <a:r>
              <a:rPr lang="zh-CN" altLang="en-US"/>
              <a:t>丝路花雨</a:t>
            </a:r>
          </a:p>
        </p:txBody>
      </p:sp>
      <p:pic>
        <p:nvPicPr>
          <p:cNvPr id="151557" name="Picture 5" descr="2398074_487250">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676400"/>
            <a:ext cx="7467600" cy="4495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rrowheads="1"/>
          </p:cNvSpPr>
          <p:nvPr>
            <p:ph type="title"/>
          </p:nvPr>
        </p:nvSpPr>
        <p:spPr/>
        <p:txBody>
          <a:bodyPr/>
          <a:lstStyle/>
          <a:p>
            <a:r>
              <a:rPr lang="zh-CN" altLang="en-US"/>
              <a:t>第三部分</a:t>
            </a:r>
            <a:r>
              <a:rPr lang="en-US" altLang="zh-CN"/>
              <a:t>——</a:t>
            </a:r>
            <a:r>
              <a:rPr lang="zh-CN" altLang="en-US"/>
              <a:t>现代舞</a:t>
            </a:r>
          </a:p>
        </p:txBody>
      </p:sp>
      <p:sp>
        <p:nvSpPr>
          <p:cNvPr id="27651" name="Rectangle 3"/>
          <p:cNvSpPr>
            <a:spLocks noGrp="1" noRot="1" noChangeArrowheads="1"/>
          </p:cNvSpPr>
          <p:nvPr>
            <p:ph type="body" idx="1"/>
          </p:nvPr>
        </p:nvSpPr>
        <p:spPr/>
        <p:txBody>
          <a:bodyPr/>
          <a:lstStyle/>
          <a:p>
            <a:pPr>
              <a:lnSpc>
                <a:spcPct val="90000"/>
              </a:lnSpc>
            </a:pPr>
            <a:r>
              <a:rPr lang="zh-CN" altLang="en-US"/>
              <a:t>现代舞蹈：是</a:t>
            </a:r>
            <a:r>
              <a:rPr lang="en-US" altLang="zh-CN"/>
              <a:t>19</a:t>
            </a:r>
            <a:r>
              <a:rPr lang="zh-CN" altLang="en-US"/>
              <a:t>世纪末和</a:t>
            </a:r>
            <a:r>
              <a:rPr lang="en-US" altLang="zh-CN"/>
              <a:t>20</a:t>
            </a:r>
            <a:r>
              <a:rPr lang="zh-CN" altLang="en-US"/>
              <a:t>世纪初在欧美兴起的一种舞蹈流派。其主要美学观点是反对当时古典芭蕾的因循守旧、脱离现实生活和单纯追求技巧的形式主义倾向；主张摆脱古典芭蕾过于僵化的动作程式的束缚，以合乎自然运动法则的舞蹈动作，自由地抒发人的真实情感，强调舞蹈艺术要反映现代社会生活。 </a:t>
            </a:r>
            <a:br>
              <a:rPr lang="zh-CN" altLang="en-US"/>
            </a:br>
            <a:endParaRPr lang="zh-CN"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rrowheads="1"/>
          </p:cNvSpPr>
          <p:nvPr>
            <p:ph type="title"/>
          </p:nvPr>
        </p:nvSpPr>
        <p:spPr/>
        <p:txBody>
          <a:bodyPr/>
          <a:lstStyle/>
          <a:p>
            <a:r>
              <a:rPr lang="en-US" altLang="zh-CN"/>
              <a:t>【</a:t>
            </a:r>
            <a:r>
              <a:rPr lang="zh-CN" altLang="en-US"/>
              <a:t>简介</a:t>
            </a:r>
            <a:r>
              <a:rPr lang="en-US" altLang="zh-CN"/>
              <a:t>】</a:t>
            </a:r>
          </a:p>
        </p:txBody>
      </p:sp>
      <p:sp>
        <p:nvSpPr>
          <p:cNvPr id="26627" name="Rectangle 3"/>
          <p:cNvSpPr>
            <a:spLocks noGrp="1" noRot="1" noChangeArrowheads="1"/>
          </p:cNvSpPr>
          <p:nvPr>
            <p:ph type="body" idx="1"/>
          </p:nvPr>
        </p:nvSpPr>
        <p:spPr/>
        <p:txBody>
          <a:bodyPr/>
          <a:lstStyle/>
          <a:p>
            <a:pPr>
              <a:lnSpc>
                <a:spcPct val="90000"/>
              </a:lnSpc>
            </a:pPr>
            <a:r>
              <a:rPr lang="zh-CN" altLang="en-US"/>
              <a:t>现代舞（</a:t>
            </a:r>
            <a:r>
              <a:rPr lang="en-US" altLang="zh-CN"/>
              <a:t>Modern Dance</a:t>
            </a:r>
            <a:r>
              <a:rPr lang="zh-CN" altLang="en-US"/>
              <a:t>）</a:t>
            </a:r>
            <a:r>
              <a:rPr lang="en-US" altLang="zh-CN"/>
              <a:t>, </a:t>
            </a:r>
            <a:r>
              <a:rPr lang="zh-CN" altLang="en-US"/>
              <a:t>是</a:t>
            </a:r>
            <a:r>
              <a:rPr lang="en-US" altLang="zh-CN"/>
              <a:t>20</a:t>
            </a:r>
            <a:r>
              <a:rPr lang="zh-CN" altLang="en-US"/>
              <a:t>世纪初在西方兴起的一种与古典芭蕾相对立的舞蹈派别。</a:t>
            </a:r>
          </a:p>
          <a:p>
            <a:pPr>
              <a:lnSpc>
                <a:spcPct val="90000"/>
              </a:lnSpc>
            </a:pPr>
            <a:r>
              <a:rPr lang="zh-CN" altLang="en-US"/>
              <a:t>其主要美学观点是反对古典芭蕾的因循守旧、脱离现象一辛生活和单纯追求技巧的形式主义倾向，主张摆脱古典芭蕾舞过于僵化的动作程式的束缚，以合乎自然运动法则的舞蹈动作，自由地抒发人的真实情感，强调舞蹈艺术要反映现代社会生活。 </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p:txBody>
          <a:bodyPr/>
          <a:lstStyle/>
          <a:p>
            <a:r>
              <a:rPr lang="zh-CN" altLang="en-US"/>
              <a:t>如何欣赏现代舞 </a:t>
            </a:r>
          </a:p>
        </p:txBody>
      </p:sp>
      <p:sp>
        <p:nvSpPr>
          <p:cNvPr id="15363" name="Rectangle 3"/>
          <p:cNvSpPr>
            <a:spLocks noGrp="1" noRot="1" noChangeArrowheads="1"/>
          </p:cNvSpPr>
          <p:nvPr>
            <p:ph type="body" idx="1"/>
          </p:nvPr>
        </p:nvSpPr>
        <p:spPr/>
        <p:txBody>
          <a:bodyPr/>
          <a:lstStyle/>
          <a:p>
            <a:r>
              <a:rPr lang="zh-CN" altLang="en-US"/>
              <a:t>第一是要以一种宽容的心态欣赏现代舞作品 </a:t>
            </a:r>
          </a:p>
          <a:p>
            <a:r>
              <a:rPr lang="zh-CN" altLang="en-US"/>
              <a:t>第二要掌握作品创作者的创作背景和动机 </a:t>
            </a:r>
          </a:p>
          <a:p>
            <a:r>
              <a:rPr lang="zh-CN" altLang="en-US"/>
              <a:t>第三看作品的“动态”和“结构”。 </a:t>
            </a:r>
          </a:p>
          <a:p>
            <a:r>
              <a:rPr lang="zh-CN" altLang="en-US"/>
              <a:t>第四要尽力的多看现代舞作品，在欣赏的过程中要用自己生而有之的六种感觉去全身心地感受作品。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CDESIGNL</Template>
  <TotalTime>305</TotalTime>
  <Words>2176</Words>
  <Application>Microsoft Office PowerPoint</Application>
  <PresentationFormat>全屏显示(4:3)</PresentationFormat>
  <Paragraphs>124</Paragraphs>
  <Slides>34</Slides>
  <Notes>14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34</vt:i4>
      </vt:variant>
    </vt:vector>
  </HeadingPairs>
  <TitlesOfParts>
    <vt:vector size="39" baseType="lpstr">
      <vt:lpstr>Arial</vt:lpstr>
      <vt:lpstr>宋体</vt:lpstr>
      <vt:lpstr>Wingdings</vt:lpstr>
      <vt:lpstr>Tahoma</vt:lpstr>
      <vt:lpstr>诗情画意</vt:lpstr>
      <vt:lpstr>中国舞蹈概况</vt:lpstr>
      <vt:lpstr>舞蹈的种类</vt:lpstr>
      <vt:lpstr>第一部分 民族民间舞</vt:lpstr>
      <vt:lpstr>民族舞特点</vt:lpstr>
      <vt:lpstr>PowerPoint 演示文稿</vt:lpstr>
      <vt:lpstr>民族舞蹈的分类</vt:lpstr>
      <vt:lpstr>节令习俗舞蹈——朝鲜族"农乐舞"</vt:lpstr>
      <vt:lpstr>节令习俗舞蹈——醒狮舞</vt:lpstr>
      <vt:lpstr>生活习俗舞 ——彝族“阿细跳乐”</vt:lpstr>
      <vt:lpstr>生活习俗舞 ——傣族“孔雀舞”</vt:lpstr>
      <vt:lpstr>礼仪习俗舞—— 独龙族"剽牛舞"</vt:lpstr>
      <vt:lpstr>礼仪习俗舞——景颇族“金寨寨”</vt:lpstr>
      <vt:lpstr>信仰习俗舞蹈 ——藏族"羌姆"</vt:lpstr>
      <vt:lpstr>第二部分——古典舞简介</vt:lpstr>
      <vt:lpstr>PowerPoint 演示文稿</vt:lpstr>
      <vt:lpstr>PowerPoint 演示文稿</vt:lpstr>
      <vt:lpstr>一舞倾城——西施</vt:lpstr>
      <vt:lpstr>PowerPoint 演示文稿</vt:lpstr>
      <vt:lpstr>PowerPoint 演示文稿</vt:lpstr>
      <vt:lpstr>PowerPoint 演示文稿</vt:lpstr>
      <vt:lpstr>敦煌壁画——反弹 琵 琶</vt:lpstr>
      <vt:lpstr>飞天——古典舞</vt:lpstr>
      <vt:lpstr>来如雷霆收震怒，罢如江海凝清光 ————《观公孙大娘弟子舞剑器行》杜甫</vt:lpstr>
      <vt:lpstr>PowerPoint 演示文稿</vt:lpstr>
      <vt:lpstr>编钟乐舞</vt:lpstr>
      <vt:lpstr>祭孔乐舞</vt:lpstr>
      <vt:lpstr>仿唐乐舞</vt:lpstr>
      <vt:lpstr>铜雀伎</vt:lpstr>
      <vt:lpstr>长安乐舞</vt:lpstr>
      <vt:lpstr>清宫乐舞</vt:lpstr>
      <vt:lpstr>中国舞剧之最——丝路花雨</vt:lpstr>
      <vt:lpstr>第三部分——现代舞</vt:lpstr>
      <vt:lpstr>【简介】</vt:lpstr>
      <vt:lpstr>如何欣赏现代舞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李虎</cp:lastModifiedBy>
  <cp:revision>8</cp:revision>
  <cp:lastPrinted>1601-01-01T00:00:00Z</cp:lastPrinted>
  <dcterms:created xsi:type="dcterms:W3CDTF">1601-01-01T00:00:00Z</dcterms:created>
  <dcterms:modified xsi:type="dcterms:W3CDTF">2012-09-13T06:44:52Z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